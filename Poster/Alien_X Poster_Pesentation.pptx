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Default Extension="xlsx" ContentType="application/vnd.openxmlformats-officedocument.spreadsheetml.sheet"/>
  <Override PartName="/docProps/app.xml" ContentType="application/vnd.openxmlformats-officedocument.extended-properties+xml"/>
  <Override PartName="/ppt/slideLayouts/slideLayout2.xml" ContentType="application/vnd.openxmlformats-officedocument.presentationml.slideLayout+xml"/>
  <Override PartName="/ppt/slideMasters/theme/theme2.xml" ContentType="application/vnd.openxmlformats-officedocument.theme+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s/charts/chart2.xml" ContentType="application/vnd.openxmlformats-officedocument.drawingml.chart+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charts/chart1.xml" ContentType="application/vnd.openxmlformats-officedocument.drawingml.chart+xml"/>
  <Override PartName="/docProps/core.xml" ContentType="application/vnd.openxmlformats-package.core-properties+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viewProps.xml" ContentType="application/vnd.openxmlformats-officedocument.presentationml.viewProp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f08556a0d7d34cd8" /><Relationship Type="http://schemas.openxmlformats.org/officeDocument/2006/relationships/extended-properties" Target="/docProps/app.xml" Id="Ra38716988e8c4ba0" /><Relationship Type="http://schemas.openxmlformats.org/officeDocument/2006/relationships/officeDocument" Target="/ppt/presentation.xml" Id="Ra9e96248e06e40db"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Lst>
  <p:sldSz cx="21384000" cy="30276000" type="custom"/>
  <p:notesSz cx="6858000" cy="9144000"/>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20" y="120"/>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tableStyles" Target="tableStyle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lang val="en-US"/>
  <c:chart>
    <c:title>
      <c:overlay val="0"/>
    </c:title>
    <c:plotArea>
      <c:layout>
        <c:manualLayout>
          <c:xMode val="edge"/>
          <c:yMode val="edge"/>
          <c:x val="0.20540539920330048"/>
          <c:y val="0.1783783733844757"/>
          <c:w val="0.7465775609016418"/>
          <c:h val="0.6313513517379761"/>
        </c:manualLayout>
      </c:layout>
      <c:barChart>
        <c:barDir val="bar"/>
        <c:grouping val="clustered"/>
        <c:varyColors val="0"/>
        <c:ser>
          <c:idx val="0"/>
          <c:order val="0"/>
          <c:tx>
            <c:v>Training positive rate</c:v>
          </c:tx>
          <c:spPr>
            <a:solidFill>
              <a:srgbClr val="167DB7"/>
            </a:solidFill>
          </c:spPr>
          <c:invertIfNegative val="0"/>
          <c:dLbls>
            <c:numFmt formatCode="0.0&quot;%&quot;" sourceLinked="0"/>
            <c:txPr>
              <a:bodyPr anchor="t" anchorCtr="1"/>
              <a:lstStyle/>
              <a:p>
                <a:pPr>
                  <a:defRPr sz="1575">
                    <a:solidFill>
                      <a:srgbClr val="17354B"/>
                    </a:solidFill>
                    <a:latin typeface="Arial"/>
                    <a:ea typeface="Arial"/>
                    <a:cs typeface="Arial"/>
                  </a:defRPr>
                </a:pPr>
              </a:p>
            </c:txPr>
            <c:dLblPos val="outEnd"/>
            <c:showLegendKey val="0"/>
            <c:showVal val="1"/>
            <c:showCatName val="0"/>
            <c:showSerName val="0"/>
            <c:showPercent val="0"/>
            <c:showBubbleSize val="0"/>
            <c:showLeaderLines val="0"/>
          </c:dLbls>
          <c:cat>
            <c:strRef>
              <c:f>'Chart Data'!$A$2:$A$8</c:f>
              <c:strCache>
                <c:ptCount val="7"/>
                <c:pt idx="0">
                  <c:v>Toxicity</c:v>
                </c:pt>
                <c:pt idx="1">
                  <c:v>Identity</c:v>
                </c:pt>
                <c:pt idx="2">
                  <c:v>Sarcasm</c:v>
                </c:pt>
                <c:pt idx="3">
                  <c:v>Profanity</c:v>
                </c:pt>
                <c:pt idx="4">
                  <c:v>Sexual</c:v>
                </c:pt>
                <c:pt idx="5">
                  <c:v>Implicit</c:v>
                </c:pt>
                <c:pt idx="6">
                  <c:v>Threat</c:v>
                </c:pt>
              </c:strCache>
            </c:strRef>
          </c:cat>
          <c:val>
            <c:numRef>
              <c:f>'Chart Data'!$B$2:$B$8</c:f>
              <c:numCache>
                <c:formatCode>General</c:formatCode>
                <c:ptCount val="7"/>
                <c:pt idx="0">
                  <c:v>71.5</c:v>
                </c:pt>
                <c:pt idx="1">
                  <c:v>41.8</c:v>
                </c:pt>
                <c:pt idx="2">
                  <c:v>17.2</c:v>
                </c:pt>
                <c:pt idx="3">
                  <c:v>11.1</c:v>
                </c:pt>
                <c:pt idx="4">
                  <c:v>4.8</c:v>
                </c:pt>
                <c:pt idx="5">
                  <c:v>3.3</c:v>
                </c:pt>
                <c:pt idx="6">
                  <c:v>2.8</c:v>
                </c:pt>
              </c:numCache>
            </c:numRef>
          </c:val>
        </c:ser>
        <c:dLbls>
          <c:dLblPos val="outEnd"/>
          <c:showLegendKey val="0"/>
          <c:showVal val="1"/>
          <c:showCatName val="0"/>
          <c:showSerName val="0"/>
          <c:showPercent val="0"/>
          <c:showBubbleSize val="0"/>
          <c:showLeaderLines val="0"/>
        </c:dLbls>
        <c:gapWidth val="38"/>
        <c:axId val="48650112"/>
        <c:axId val="48672768"/>
      </c:barChart>
      <c:catAx>
        <c:axId val="48650112"/>
        <c:scaling>
          <c:orientation val="minMax"/>
        </c:scaling>
        <c:delete val="0"/>
        <c:axPos val="l"/>
        <c:numFmt formatCode="General" sourceLinked="1"/>
        <c:majorTickMark val="none"/>
        <c:minorTickMark val="none"/>
        <c:spPr>
          <a:ln w="9525">
            <a:solidFill>
              <a:srgbClr val="D4D4D4"/>
            </a:solidFill>
            <a:prstDash val="solid"/>
          </a:ln>
        </c:spPr>
        <c:txPr>
          <a:bodyPr anchor="t" anchorCtr="1"/>
          <a:lstStyle/>
          <a:p>
            <a:pPr>
              <a:defRPr sz="1575">
                <a:solidFill>
                  <a:srgbClr val="17354B"/>
                </a:solidFill>
                <a:latin typeface="Arial"/>
                <a:ea typeface="Arial"/>
                <a:cs typeface="Arial"/>
              </a:defRPr>
            </a:pPr>
          </a:p>
        </c:txPr>
        <c:crossAx val="48672768"/>
      </c:catAx>
      <c:valAx>
        <c:axId val="48672768"/>
        <c:scaling>
          <c:orientation val="minMax"/>
        </c:scaling>
        <c:delete val="0"/>
        <c:axPos val="b"/>
        <c:numFmt formatCode="General" sourceLinked="1"/>
        <c:majorTickMark val="none"/>
        <c:minorTickMark val="none"/>
        <c:spPr>
          <a:ln w="0">
            <a:noFill/>
          </a:ln>
        </c:spPr>
        <c:txPr>
          <a:bodyPr anchor="t" anchorCtr="1"/>
          <a:lstStyle/>
          <a:p>
            <a:pPr>
              <a:defRPr sz="1725">
                <a:solidFill>
                  <a:srgbClr val="17354B"/>
                </a:solidFill>
                <a:latin typeface="Arial"/>
                <a:ea typeface="Arial"/>
                <a:cs typeface="Arial"/>
              </a:defRPr>
            </a:pPr>
          </a:p>
        </c:txPr>
        <c:crossAx val="48650112"/>
        <c:crossBetween val="between"/>
      </c:valAx>
      <c:spPr>
        <a:solidFill>
          <a:srgbClr val="FFFFFF"/>
        </a:solidFill>
      </c:spPr>
    </c:plotArea>
    <c:plotVisOnly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lang val="en-US"/>
  <c:chart>
    <c:title>
      <c:overlay val="0"/>
    </c:title>
    <c:plotArea>
      <c:layout/>
      <c:barChart>
        <c:barDir val="bar"/>
        <c:grouping val="clustered"/>
        <c:varyColors val="0"/>
        <c:ser>
          <c:idx val="0"/>
          <c:order val="0"/>
          <c:tx>
            <c:v>Development F1 (%)</c:v>
          </c:tx>
          <c:spPr>
            <a:solidFill>
              <a:srgbClr val="167DB7"/>
            </a:solidFill>
          </c:spPr>
          <c:invertIfNegative val="0"/>
          <c:dLbls>
            <c:numFmt formatCode="0.0" sourceLinked="0"/>
            <c:txPr>
              <a:bodyPr anchor="t" anchorCtr="1"/>
              <a:lstStyle/>
              <a:p>
                <a:pPr>
                  <a:defRPr sz="1725">
                    <a:solidFill>
                      <a:srgbClr val="17354B"/>
                    </a:solidFill>
                    <a:latin typeface="Arial"/>
                    <a:ea typeface="Arial"/>
                    <a:cs typeface="Arial"/>
                  </a:defRPr>
                </a:pPr>
              </a:p>
            </c:txPr>
            <c:dLblPos val="outEnd"/>
            <c:showLegendKey val="0"/>
            <c:showVal val="1"/>
            <c:showCatName val="0"/>
            <c:showSerName val="0"/>
            <c:showPercent val="0"/>
            <c:showBubbleSize val="0"/>
            <c:showLeaderLines val="0"/>
          </c:dLbls>
          <c:cat>
            <c:strRef>
              <c:f>'Chart Data'!$A$2:$A$8</c:f>
              <c:strCache>
                <c:ptCount val="7"/>
                <c:pt idx="0">
                  <c:v>Toxicity</c:v>
                </c:pt>
                <c:pt idx="1">
                  <c:v>Implicit toxicity</c:v>
                </c:pt>
                <c:pt idx="2">
                  <c:v>Sarcasm</c:v>
                </c:pt>
                <c:pt idx="3">
                  <c:v>Profanity</c:v>
                </c:pt>
                <c:pt idx="4">
                  <c:v>Threatening</c:v>
                </c:pt>
                <c:pt idx="5">
                  <c:v>Identity attack</c:v>
                </c:pt>
                <c:pt idx="6">
                  <c:v>Sexual content</c:v>
                </c:pt>
              </c:strCache>
            </c:strRef>
          </c:cat>
          <c:val>
            <c:numRef>
              <c:f>'Chart Data'!$B$2:$B$8</c:f>
              <c:numCache>
                <c:formatCode>General</c:formatCode>
                <c:ptCount val="7"/>
                <c:pt idx="0">
                  <c:v>87.4</c:v>
                </c:pt>
                <c:pt idx="1">
                  <c:v>37.2</c:v>
                </c:pt>
                <c:pt idx="2">
                  <c:v>35.4</c:v>
                </c:pt>
                <c:pt idx="3">
                  <c:v>60.7</c:v>
                </c:pt>
                <c:pt idx="4">
                  <c:v>38.7</c:v>
                </c:pt>
                <c:pt idx="5">
                  <c:v>67.1</c:v>
                </c:pt>
                <c:pt idx="6">
                  <c:v>58.8</c:v>
                </c:pt>
              </c:numCache>
            </c:numRef>
          </c:val>
        </c:ser>
        <c:dLbls>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sourceLinked="1"/>
        <c:majorTickMark val="none"/>
        <c:minorTickMark val="none"/>
        <c:spPr>
          <a:ln w="9525">
            <a:solidFill>
              <a:srgbClr val="D4D4D4"/>
            </a:solidFill>
            <a:prstDash val="solid"/>
          </a:ln>
        </c:spPr>
        <c:txPr>
          <a:bodyPr anchor="t" anchorCtr="1"/>
          <a:lstStyle/>
          <a:p>
            <a:pPr>
              <a:defRPr sz="1650">
                <a:solidFill>
                  <a:srgbClr val="17354B"/>
                </a:solidFill>
                <a:latin typeface="Arial"/>
                <a:ea typeface="Arial"/>
                <a:cs typeface="Arial"/>
              </a:defRPr>
            </a:pPr>
          </a:p>
        </c:txPr>
        <c:crossAx val="48672768"/>
      </c:catAx>
      <c:valAx>
        <c:axId val="48672768"/>
        <c:scaling>
          <c:orientation val="minMax"/>
        </c:scaling>
        <c:delete val="0"/>
        <c:axPos val="b"/>
        <c:numFmt formatCode="General" sourceLinked="1"/>
        <c:majorTickMark val="none"/>
        <c:minorTickMark val="none"/>
        <c:spPr>
          <a:ln w="0">
            <a:noFill/>
          </a:ln>
        </c:spPr>
        <c:txPr>
          <a:bodyPr anchor="t" anchorCtr="1"/>
          <a:lstStyle/>
          <a:p>
            <a:pPr>
              <a:defRPr sz="1725">
                <a:solidFill>
                  <a:srgbClr val="17354B"/>
                </a:solidFill>
                <a:latin typeface="Arial"/>
                <a:ea typeface="Arial"/>
                <a:cs typeface="Arial"/>
              </a:defRPr>
            </a:pPr>
          </a:p>
        </c:txPr>
        <c:crossAx val="48650112"/>
        <c:crossBetween val="between"/>
      </c:valAx>
      <c:spPr>
        <a:solidFill>
          <a:srgbClr val="FFFFFF"/>
        </a:solidFill>
      </c:spPr>
    </c:plotArea>
    <c:plotVisOnly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noEditPoints="1"/>
          </p:cNvSpPr>
          <p:nvPr>
            <p:ph type="hdr" sz="quarter"/>
          </p:nvPr>
        </p:nvSpPr>
        <p:spPr>
          <a:prstGeom prst="rect">
            <a:avLst/>
          </a:prstGeom>
        </p:spPr>
        <p:txBody>
          <a:bodyPr/>
          <a:lstStyle/>
          <a:p/>
        </p:txBody>
      </p:sp>
      <p:sp>
        <p:nvSpPr>
          <p:cNvPr id="3" name="Date Placeholder"/>
          <p:cNvSpPr>
            <a:spLocks noGrp="1" noEditPoints="1"/>
          </p:cNvSpPr>
          <p:nvPr>
            <p:ph type="dt" sz="quarter" idx="1"/>
          </p:nvPr>
        </p:nvSpPr>
        <p:spPr>
          <a:prstGeom prst="rect">
            <a:avLst/>
          </a:prstGeom>
        </p:spPr>
        <p:txBody>
          <a:bodyPr/>
          <a:lstStyle/>
          <a:p/>
        </p:txBody>
      </p:sp>
      <p:sp>
        <p:nvSpPr>
          <p:cNvPr id="4" name="Slide Image Placeholder"/>
          <p:cNvSpPr>
            <a:spLocks noGrp="1" noEditPoints="1"/>
          </p:cNvSpPr>
          <p:nvPr>
            <p:ph type="sldImg" idx="2"/>
          </p:nvPr>
        </p:nvSpPr>
        <p:spPr>
          <a:prstGeom prst="rect">
            <a:avLst/>
          </a:prstGeom>
        </p:spPr>
        <p:txBody>
          <a:bodyPr/>
          <a:lstStyle/>
          <a:p/>
        </p:txBody>
      </p:sp>
      <p:sp>
        <p:nvSpPr>
          <p:cNvPr id="5" name="Notes Placeholder"/>
          <p:cNvSpPr>
            <a:spLocks noGrp="1" noEditPoints="1"/>
          </p:cNvSpPr>
          <p:nvPr>
            <p:ph type="body" sz="quarter" idx="3"/>
          </p:nvPr>
        </p:nvSpPr>
        <p:spPr>
          <a:prstGeom prst="rect">
            <a:avLst/>
          </a:prstGeom>
        </p:spPr>
        <p:txBody>
          <a:bodyPr/>
          <a:lstStyle/>
          <a:p>
            <a:pPr lvl="0"/>
          </a:p>
        </p:txBody>
      </p:sp>
      <p:sp>
        <p:nvSpPr>
          <p:cNvPr id="6" name="Footer Placeholder"/>
          <p:cNvSpPr>
            <a:spLocks noGrp="1" noEditPoints="1"/>
          </p:cNvSpPr>
          <p:nvPr>
            <p:ph type="ftr" sz="quarter" idx="4"/>
          </p:nvPr>
        </p:nvSpPr>
        <p:spPr>
          <a:prstGeom prst="rect">
            <a:avLst/>
          </a:prstGeom>
        </p:spPr>
        <p:txBody>
          <a:bodyPr/>
          <a:lstStyle/>
          <a:p/>
        </p:txBody>
      </p:sp>
      <p:sp>
        <p:nvSpPr>
          <p:cNvPr id="7" name="Slide Number Placeholder"/>
          <p:cNvSpPr>
            <a:spLocks noGrp="1" noEditPoints="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hf dt="0" sldNum="0" hdr="0" ftr="0"/>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EditPoints="1"/>
          </p:cNvSpPr>
          <p:nvPr>
            <p:ph type="sldImg"/>
          </p:nvPr>
        </p:nvSpPr>
        <p:spPr/>
        <p:txBody>
          <a:bodyPr/>
          <a:lstStyle/>
          <a:p/>
        </p:txBody>
      </p:sp>
      <p:sp>
        <p:nvSpPr>
          <p:cNvPr id="3" name="Notes Placeholder 2"/>
          <p:cNvSpPr>
            <a:spLocks noGrp="1" noEditPoints="1"/>
          </p:cNvSpPr>
          <p:nvPr>
            <p:ph type="body" idx="1"/>
          </p:nvPr>
        </p:nvSpPr>
        <p:spPr/>
        <p:txBody>
          <a:bodyPr/>
          <a:lstStyle/>
          <a:p>
            <a:r>
              <a:t>Team ALIEN_X. A1 portrait, 594 x 841 mm. Print at 100% actual size. All seven label metrics independently recomputed from the supplied 500-row reconstructed V38 validation predictions and matched to the supplied metrics CSV. The development set was repeatedly reused in model selection, including some underlying features, so these are not unbiased holdout estimates. Test labels remain hidden. Icons: Lucide https://lucide.dev/license . References: https://aclanthology.org/2022.findings-naacl.98/ ; https://aclanthology.org/2020.acl-main.747/ ; https://aclanthology.org/2024.findings-acl.137/ .</a:t>
            </a:r>
          </a:p>
          <a:p>
            <a:r>
              <a:t>Icon license and attribution:</a:t>
            </a:r>
          </a:p>
          <a:p>
            <a:r>
              <a:t>ISC License</a:t>
            </a:r>
          </a:p>
          <a:p/>
          <a:p>
            <a:r>
              <a:t>Copyright (c) 2026 Lucide Icons and Contributors</a:t>
            </a:r>
          </a:p>
          <a:p/>
          <a:p>
            <a:r>
              <a:t>Permission to use, copy, modify, and/or distribute this software for any</a:t>
            </a:r>
          </a:p>
          <a:p>
            <a:r>
              <a:t>purpose with or without fee is hereby granted, provided that the above</a:t>
            </a:r>
          </a:p>
          <a:p>
            <a:r>
              <a:t>copyright notice and this permission notice appear in all copies.</a:t>
            </a:r>
          </a:p>
          <a:p/>
          <a:p>
            <a:r>
              <a:t>THE SOFTWARE IS PROVIDED "AS IS" AND THE AUTHOR DISCLAIMS ALL WARRANTIES</a:t>
            </a:r>
          </a:p>
          <a:p>
            <a:r>
              <a:t>WITH REGARD TO THIS SOFTWARE INCLUDING ALL IMPLIED WARRANTIES OF</a:t>
            </a:r>
          </a:p>
          <a:p>
            <a:r>
              <a:t>MERCHANTABILITY AND FITNESS. IN NO EVENT SHALL THE AUTHOR BE LIABLE FOR</a:t>
            </a:r>
          </a:p>
          <a:p>
            <a:r>
              <a:t>ANY SPECIAL, DIRECT, INDIRECT, OR CONSEQUENTIAL DAMAGES OR ANY DAMAGES</a:t>
            </a:r>
          </a:p>
          <a:p>
            <a:r>
              <a:t>WHATSOEVER RESULTING FROM LOSS OF USE, DATA OR PROFITS, WHETHER IN AN</a:t>
            </a:r>
          </a:p>
          <a:p>
            <a:r>
              <a:t>ACTION OF CONTRACT, NEGLIGENCE OR OTHER TORTIOUS ACTION, ARISING OUT OF</a:t>
            </a:r>
          </a:p>
          <a:p>
            <a:r>
              <a:t>OR IN CONNECTION WITH THE USE OR PERFORMANCE OF THIS SOFTWARE.</a:t>
            </a:r>
          </a:p>
          <a:p/>
          <a:p>
            <a:r>
              <a:t>---</a:t>
            </a:r>
          </a:p>
          <a:p/>
          <a:p>
            <a:r>
              <a:t>The following Lucide icons are derived from the Feather project:</a:t>
            </a:r>
          </a:p>
          <a:p/>
          <a:p>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a:p>
            <a:r>
              <a:t>The MIT License (MIT) (for the icons listed above)</a:t>
            </a:r>
          </a:p>
          <a:p/>
          <a:p>
            <a:r>
              <a:t>Copyright (c) 2013-present Cole Bemis</a:t>
            </a:r>
          </a:p>
          <a:p/>
          <a:p>
            <a:r>
              <a:t>Permission is hereby granted, free of charge, to any person obtaining a copy</a:t>
            </a:r>
          </a:p>
          <a:p>
            <a:r>
              <a:t>of this software and associated documentation files (the "Software"), to deal</a:t>
            </a:r>
          </a:p>
          <a:p>
            <a:r>
              <a:t>in the Software without restriction, including without limitation the rights</a:t>
            </a:r>
          </a:p>
          <a:p>
            <a:r>
              <a:t>to use, copy, modify, merge, publish, distribute, sublicense, and/or sell</a:t>
            </a:r>
          </a:p>
          <a:p>
            <a:r>
              <a:t>copies of the Software, and to permit persons to whom the Software is</a:t>
            </a:r>
          </a:p>
          <a:p>
            <a:r>
              <a:t>furnished to do so, subject to the following conditions:</a:t>
            </a:r>
          </a:p>
          <a:p/>
          <a:p>
            <a:r>
              <a:t>The above copyright notice and this permission notice shall be included in all</a:t>
            </a:r>
          </a:p>
          <a:p>
            <a:r>
              <a:t>copies or substantial portions of the Software.</a:t>
            </a:r>
          </a:p>
          <a:p/>
          <a:p>
            <a:r>
              <a:t>THE SOFTWARE IS PROVIDED "AS IS", WITHOUT WARRANTY OF ANY KIND, EXPRESS OR</a:t>
            </a:r>
          </a:p>
          <a:p>
            <a:r>
              <a:t>IMPLIED, INCLUDING BUT NOT LIMITED TO THE WARRANTIES OF MERCHANTABILITY,</a:t>
            </a:r>
          </a:p>
          <a:p>
            <a:r>
              <a:t>FITNESS FOR A PARTICULAR PURPOSE AND NONINFRINGEMENT. IN NO EVENT SHALL THE</a:t>
            </a:r>
          </a:p>
          <a:p>
            <a:r>
              <a:t>AUTHORS OR COPYRIGHT HOLDERS BE LIABLE FOR ANY CLAIM, DAMAGES OR OTHER</a:t>
            </a:r>
          </a:p>
          <a:p>
            <a:r>
              <a:t>LIABILITY, WHETHER IN AN ACTION OF CONTRACT, TORT OR OTHERWISE, ARISING FROM,</a:t>
            </a:r>
          </a:p>
          <a:p>
            <a:r>
              <a:t>OUT OF OR IN CONNECTION WITH THE SOFTWARE OR THE USE OR OTHER DEALINGS IN THE</a:t>
            </a:r>
          </a:p>
          <a:p>
            <a:r>
              <a:t>SOFTWARE.</a:t>
            </a:r>
          </a:p>
          <a:p/>
        </p:txBody>
      </p:sp>
      <p:sp>
        <p:nvSpPr>
          <p:cNvPr id="4" name="Slide Number Placeholder 3"/>
          <p:cNvSpPr>
            <a:spLocks noGrp="1" noEditPoints="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p:cNvSpPr>
            <a:spLocks noGrp="1" noEditPoints="1"/>
          </p:cNvSpPr>
          <p:nvPr>
            <p:ph type="title"/>
          </p:nvPr>
        </p:nvSpPr>
        <p:spPr>
          <a:xfrm>
            <a:off x="2138400" y="11437600"/>
            <a:ext cx="17107200" cy="43732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noEditPoints="1"/>
          </p:cNvSpPr>
          <p:nvPr>
            <p:ph type="subTitle" idx="1"/>
          </p:nvPr>
        </p:nvSpPr>
        <p:spPr>
          <a:xfrm>
            <a:off x="3207600" y="16651800"/>
            <a:ext cx="14968800" cy="3364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lvl="0"/>
          </a:p>
        </p:txBody>
      </p:sp>
    </p:spTree>
  </p:cSld>
  <p:clrMapOvr>
    <a:masterClrMapping/>
  </p:clrMapOvr>
  <p:hf dt="0"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p:cNvSpPr>
            <a:spLocks noGrp="1" noEditPoints="1"/>
          </p:cNvSpPr>
          <p:nvPr>
            <p:ph type="title"/>
          </p:nvPr>
        </p:nvSpPr>
        <p:spPr>
          <a:xfrm>
            <a:off x="2138400" y="12615000"/>
            <a:ext cx="17107200" cy="5046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hf dt="0"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p:cNvSpPr>
            <a:spLocks noGrp="1" noEditPoints="1"/>
          </p:cNvSpPr>
          <p:nvPr>
            <p:ph type="title"/>
          </p:nvPr>
        </p:nvSpPr>
        <p:spPr>
          <a:xfrm>
            <a:off x="1202850" y="2354800"/>
            <a:ext cx="18978300" cy="37004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noEditPoints="1"/>
          </p:cNvSpPr>
          <p:nvPr>
            <p:ph type="body" idx="1"/>
          </p:nvPr>
        </p:nvSpPr>
        <p:spPr>
          <a:xfrm>
            <a:off x="1202850" y="8410000"/>
            <a:ext cx="18978300" cy="18838400"/>
          </a:xfrm>
          <a:prstGeom prst="rect">
            <a:avLst/>
          </a:prstGeom>
          <a:noFill/>
          <a:ln>
            <a:noFill/>
            <a:prstDash val="solid"/>
          </a:ln>
        </p:spPr>
        <p:txBody>
          <a:bodyPr wrap="square" lIns="0" tIns="0" rIns="0" bIns="0" anchor="t">
            <a:normAutofit/>
          </a:bodyPr>
          <a:lstStyle>
            <a:lvl1pPr marL="400950" indent="-400950">
              <a:lnSpc>
                <a:spcPct val="110000"/>
              </a:lnSpc>
              <a:spcBef>
                <a:spcPts val="0"/>
              </a:spcBef>
              <a:spcAft>
                <a:spcPts val="2105"/>
              </a:spcAft>
              <a:buChar char="•"/>
            </a:lvl1pPr>
            <a:lvl2pPr marL="935550" indent="-400950">
              <a:lnSpc>
                <a:spcPct val="110000"/>
              </a:lnSpc>
              <a:spcBef>
                <a:spcPts val="0"/>
              </a:spcBef>
              <a:spcAft>
                <a:spcPts val="2105"/>
              </a:spcAft>
              <a:buChar char="•"/>
            </a:lvl2pPr>
            <a:lvl3pPr marL="1470150" indent="-400950">
              <a:lnSpc>
                <a:spcPct val="110000"/>
              </a:lnSpc>
              <a:spcBef>
                <a:spcPts val="0"/>
              </a:spcBef>
              <a:spcAft>
                <a:spcPts val="2105"/>
              </a:spcAft>
              <a:buChar char="•"/>
            </a:lvl3pPr>
            <a:lvl4pPr marL="2004750" indent="-400950">
              <a:lnSpc>
                <a:spcPct val="110000"/>
              </a:lnSpc>
              <a:spcBef>
                <a:spcPts val="0"/>
              </a:spcBef>
              <a:spcAft>
                <a:spcPts val="2105"/>
              </a:spcAft>
              <a:buChar char="•"/>
            </a:lvl4pPr>
            <a:lvl5pPr marL="2539350" indent="-400950">
              <a:lnSpc>
                <a:spcPct val="110000"/>
              </a:lnSpc>
              <a:spcBef>
                <a:spcPts val="0"/>
              </a:spcBef>
              <a:spcAft>
                <a:spcPts val="2105"/>
              </a:spcAft>
              <a:buChar char="•"/>
            </a:lvl5pPr>
            <a:lvl6pPr marL="3073950" indent="-400950">
              <a:lnSpc>
                <a:spcPct val="110000"/>
              </a:lnSpc>
              <a:spcBef>
                <a:spcPts val="0"/>
              </a:spcBef>
              <a:spcAft>
                <a:spcPts val="2105"/>
              </a:spcAft>
              <a:buChar char="•"/>
            </a:lvl6pPr>
            <a:lvl7pPr marL="3608550" indent="-400950">
              <a:lnSpc>
                <a:spcPct val="110000"/>
              </a:lnSpc>
              <a:spcBef>
                <a:spcPts val="0"/>
              </a:spcBef>
              <a:spcAft>
                <a:spcPts val="2105"/>
              </a:spcAft>
              <a:buChar char="•"/>
            </a:lvl7pPr>
            <a:lvl8pPr marL="4143150" indent="-400950">
              <a:lnSpc>
                <a:spcPct val="110000"/>
              </a:lnSpc>
              <a:spcBef>
                <a:spcPts val="0"/>
              </a:spcBef>
              <a:spcAft>
                <a:spcPts val="2105"/>
              </a:spcAft>
              <a:buChar char="•"/>
            </a:lvl8pPr>
            <a:lvl9pPr marL="4677750" indent="-400950">
              <a:lnSpc>
                <a:spcPct val="110000"/>
              </a:lnSpc>
              <a:spcBef>
                <a:spcPts val="0"/>
              </a:spcBef>
              <a:spcAft>
                <a:spcPts val="2105"/>
              </a:spcAft>
              <a:buChar char="•"/>
            </a:lvl9pPr>
          </a:lstStyle>
          <a:p>
            <a:pPr lvl="0"/>
          </a:p>
        </p:txBody>
      </p:sp>
    </p:spTree>
  </p:cSld>
  <p:clrMapOvr>
    <a:masterClrMapping/>
  </p:clrMapOvr>
  <p:hf dt="0"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p:cNvSpPr>
            <a:spLocks noGrp="1" noEditPoints="1"/>
          </p:cNvSpPr>
          <p:nvPr>
            <p:ph type="title"/>
          </p:nvPr>
        </p:nvSpPr>
        <p:spPr>
          <a:xfrm>
            <a:off x="1202850" y="2354800"/>
            <a:ext cx="18978300" cy="37004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noEditPoints="1"/>
          </p:cNvSpPr>
          <p:nvPr>
            <p:ph type="body" idx="1"/>
          </p:nvPr>
        </p:nvSpPr>
        <p:spPr>
          <a:xfrm>
            <a:off x="1202850" y="8410000"/>
            <a:ext cx="8820900" cy="18838400"/>
          </a:xfrm>
          <a:prstGeom prst="rect">
            <a:avLst/>
          </a:prstGeom>
          <a:noFill/>
          <a:ln>
            <a:noFill/>
            <a:prstDash val="solid"/>
          </a:ln>
        </p:spPr>
        <p:txBody>
          <a:bodyPr wrap="square" lIns="0" tIns="0" rIns="0" bIns="0" anchor="t">
            <a:normAutofit/>
          </a:bodyPr>
          <a:lstStyle>
            <a:lvl1pPr marL="400950" indent="-400950">
              <a:lnSpc>
                <a:spcPct val="110000"/>
              </a:lnSpc>
              <a:spcBef>
                <a:spcPts val="0"/>
              </a:spcBef>
              <a:spcAft>
                <a:spcPts val="2105"/>
              </a:spcAft>
              <a:buChar char="•"/>
            </a:lvl1pPr>
            <a:lvl2pPr marL="935550" indent="-400950">
              <a:lnSpc>
                <a:spcPct val="110000"/>
              </a:lnSpc>
              <a:spcBef>
                <a:spcPts val="0"/>
              </a:spcBef>
              <a:spcAft>
                <a:spcPts val="2105"/>
              </a:spcAft>
              <a:buChar char="•"/>
            </a:lvl2pPr>
            <a:lvl3pPr marL="1470150" indent="-400950">
              <a:lnSpc>
                <a:spcPct val="110000"/>
              </a:lnSpc>
              <a:spcBef>
                <a:spcPts val="0"/>
              </a:spcBef>
              <a:spcAft>
                <a:spcPts val="2105"/>
              </a:spcAft>
              <a:buChar char="•"/>
            </a:lvl3pPr>
            <a:lvl4pPr marL="2004750" indent="-400950">
              <a:lnSpc>
                <a:spcPct val="110000"/>
              </a:lnSpc>
              <a:spcBef>
                <a:spcPts val="0"/>
              </a:spcBef>
              <a:spcAft>
                <a:spcPts val="2105"/>
              </a:spcAft>
              <a:buChar char="•"/>
            </a:lvl4pPr>
            <a:lvl5pPr marL="2539350" indent="-400950">
              <a:lnSpc>
                <a:spcPct val="110000"/>
              </a:lnSpc>
              <a:spcBef>
                <a:spcPts val="0"/>
              </a:spcBef>
              <a:spcAft>
                <a:spcPts val="2105"/>
              </a:spcAft>
              <a:buChar char="•"/>
            </a:lvl5pPr>
            <a:lvl6pPr marL="3073950" indent="-400950">
              <a:lnSpc>
                <a:spcPct val="110000"/>
              </a:lnSpc>
              <a:spcBef>
                <a:spcPts val="0"/>
              </a:spcBef>
              <a:spcAft>
                <a:spcPts val="2105"/>
              </a:spcAft>
              <a:buChar char="•"/>
            </a:lvl6pPr>
            <a:lvl7pPr marL="3608550" indent="-400950">
              <a:lnSpc>
                <a:spcPct val="110000"/>
              </a:lnSpc>
              <a:spcBef>
                <a:spcPts val="0"/>
              </a:spcBef>
              <a:spcAft>
                <a:spcPts val="2105"/>
              </a:spcAft>
              <a:buChar char="•"/>
            </a:lvl7pPr>
            <a:lvl8pPr marL="4143150" indent="-400950">
              <a:lnSpc>
                <a:spcPct val="110000"/>
              </a:lnSpc>
              <a:spcBef>
                <a:spcPts val="0"/>
              </a:spcBef>
              <a:spcAft>
                <a:spcPts val="2105"/>
              </a:spcAft>
              <a:buChar char="•"/>
            </a:lvl8pPr>
            <a:lvl9pPr marL="4677750" indent="-400950">
              <a:lnSpc>
                <a:spcPct val="110000"/>
              </a:lnSpc>
              <a:spcBef>
                <a:spcPts val="0"/>
              </a:spcBef>
              <a:spcAft>
                <a:spcPts val="2105"/>
              </a:spcAft>
              <a:buChar char="•"/>
            </a:lvl9pPr>
          </a:lstStyle>
          <a:p>
            <a:pPr lvl="0"/>
          </a:p>
        </p:txBody>
      </p:sp>
      <p:sp>
        <p:nvSpPr>
          <p:cNvPr id="3" name="Right column"/>
          <p:cNvSpPr>
            <a:spLocks noGrp="1" noEditPoints="1"/>
          </p:cNvSpPr>
          <p:nvPr>
            <p:ph type="body" idx="2"/>
          </p:nvPr>
        </p:nvSpPr>
        <p:spPr>
          <a:xfrm>
            <a:off x="11360250" y="8410000"/>
            <a:ext cx="8820900" cy="18838400"/>
          </a:xfrm>
          <a:prstGeom prst="rect">
            <a:avLst/>
          </a:prstGeom>
          <a:noFill/>
          <a:ln>
            <a:noFill/>
            <a:prstDash val="solid"/>
          </a:ln>
        </p:spPr>
        <p:txBody>
          <a:bodyPr wrap="square" lIns="0" tIns="0" rIns="0" bIns="0" anchor="t">
            <a:normAutofit/>
          </a:bodyPr>
          <a:lstStyle>
            <a:lvl1pPr marL="400950" indent="-400950">
              <a:lnSpc>
                <a:spcPct val="110000"/>
              </a:lnSpc>
              <a:spcBef>
                <a:spcPts val="0"/>
              </a:spcBef>
              <a:spcAft>
                <a:spcPts val="2105"/>
              </a:spcAft>
              <a:buChar char="•"/>
            </a:lvl1pPr>
            <a:lvl2pPr marL="935550" indent="-400950">
              <a:lnSpc>
                <a:spcPct val="110000"/>
              </a:lnSpc>
              <a:spcBef>
                <a:spcPts val="0"/>
              </a:spcBef>
              <a:spcAft>
                <a:spcPts val="2105"/>
              </a:spcAft>
              <a:buChar char="•"/>
            </a:lvl2pPr>
            <a:lvl3pPr marL="1470150" indent="-400950">
              <a:lnSpc>
                <a:spcPct val="110000"/>
              </a:lnSpc>
              <a:spcBef>
                <a:spcPts val="0"/>
              </a:spcBef>
              <a:spcAft>
                <a:spcPts val="2105"/>
              </a:spcAft>
              <a:buChar char="•"/>
            </a:lvl3pPr>
            <a:lvl4pPr marL="2004750" indent="-400950">
              <a:lnSpc>
                <a:spcPct val="110000"/>
              </a:lnSpc>
              <a:spcBef>
                <a:spcPts val="0"/>
              </a:spcBef>
              <a:spcAft>
                <a:spcPts val="2105"/>
              </a:spcAft>
              <a:buChar char="•"/>
            </a:lvl4pPr>
            <a:lvl5pPr marL="2539350" indent="-400950">
              <a:lnSpc>
                <a:spcPct val="110000"/>
              </a:lnSpc>
              <a:spcBef>
                <a:spcPts val="0"/>
              </a:spcBef>
              <a:spcAft>
                <a:spcPts val="2105"/>
              </a:spcAft>
              <a:buChar char="•"/>
            </a:lvl5pPr>
            <a:lvl6pPr marL="3073950" indent="-400950">
              <a:lnSpc>
                <a:spcPct val="110000"/>
              </a:lnSpc>
              <a:spcBef>
                <a:spcPts val="0"/>
              </a:spcBef>
              <a:spcAft>
                <a:spcPts val="2105"/>
              </a:spcAft>
              <a:buChar char="•"/>
            </a:lvl6pPr>
            <a:lvl7pPr marL="3608550" indent="-400950">
              <a:lnSpc>
                <a:spcPct val="110000"/>
              </a:lnSpc>
              <a:spcBef>
                <a:spcPts val="0"/>
              </a:spcBef>
              <a:spcAft>
                <a:spcPts val="2105"/>
              </a:spcAft>
              <a:buChar char="•"/>
            </a:lvl7pPr>
            <a:lvl8pPr marL="4143150" indent="-400950">
              <a:lnSpc>
                <a:spcPct val="110000"/>
              </a:lnSpc>
              <a:spcBef>
                <a:spcPts val="0"/>
              </a:spcBef>
              <a:spcAft>
                <a:spcPts val="2105"/>
              </a:spcAft>
              <a:buChar char="•"/>
            </a:lvl8pPr>
            <a:lvl9pPr marL="4677750" indent="-400950">
              <a:lnSpc>
                <a:spcPct val="110000"/>
              </a:lnSpc>
              <a:spcBef>
                <a:spcPts val="0"/>
              </a:spcBef>
              <a:spcAft>
                <a:spcPts val="2105"/>
              </a:spcAft>
              <a:buChar char="•"/>
            </a:lvl9pPr>
          </a:lstStyle>
          <a:p>
            <a:pPr lvl="0"/>
          </a:p>
        </p:txBody>
      </p:sp>
    </p:spTree>
  </p:cSld>
  <p:clrMapOvr>
    <a:masterClrMapping/>
  </p:clrMapOvr>
  <p:hf dt="0"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p:cNvSpPr>
            <a:spLocks noGrp="1" noEditPoints="1"/>
          </p:cNvSpPr>
          <p:nvPr>
            <p:ph type="title"/>
          </p:nvPr>
        </p:nvSpPr>
        <p:spPr>
          <a:xfrm>
            <a:off x="1202850" y="2354800"/>
            <a:ext cx="18978300" cy="37004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noEditPoints="1"/>
          </p:cNvSpPr>
          <p:nvPr>
            <p:ph type="body" idx="1"/>
          </p:nvPr>
        </p:nvSpPr>
        <p:spPr>
          <a:xfrm>
            <a:off x="1202850" y="8410000"/>
            <a:ext cx="8820900" cy="18838400"/>
          </a:xfrm>
          <a:prstGeom prst="rect">
            <a:avLst/>
          </a:prstGeom>
          <a:noFill/>
          <a:ln>
            <a:noFill/>
            <a:prstDash val="solid"/>
          </a:ln>
        </p:spPr>
        <p:txBody>
          <a:bodyPr wrap="square" lIns="0" tIns="0" rIns="0" bIns="0" anchor="t">
            <a:normAutofit/>
          </a:bodyPr>
          <a:lstStyle>
            <a:lvl1pPr marL="400950" indent="-400950">
              <a:lnSpc>
                <a:spcPct val="110000"/>
              </a:lnSpc>
              <a:spcBef>
                <a:spcPts val="0"/>
              </a:spcBef>
              <a:spcAft>
                <a:spcPts val="2105"/>
              </a:spcAft>
              <a:buChar char="•"/>
            </a:lvl1pPr>
            <a:lvl2pPr marL="935550" indent="-400950">
              <a:lnSpc>
                <a:spcPct val="110000"/>
              </a:lnSpc>
              <a:spcBef>
                <a:spcPts val="0"/>
              </a:spcBef>
              <a:spcAft>
                <a:spcPts val="2105"/>
              </a:spcAft>
              <a:buChar char="•"/>
            </a:lvl2pPr>
            <a:lvl3pPr marL="1470150" indent="-400950">
              <a:lnSpc>
                <a:spcPct val="110000"/>
              </a:lnSpc>
              <a:spcBef>
                <a:spcPts val="0"/>
              </a:spcBef>
              <a:spcAft>
                <a:spcPts val="2105"/>
              </a:spcAft>
              <a:buChar char="•"/>
            </a:lvl3pPr>
            <a:lvl4pPr marL="2004750" indent="-400950">
              <a:lnSpc>
                <a:spcPct val="110000"/>
              </a:lnSpc>
              <a:spcBef>
                <a:spcPts val="0"/>
              </a:spcBef>
              <a:spcAft>
                <a:spcPts val="2105"/>
              </a:spcAft>
              <a:buChar char="•"/>
            </a:lvl4pPr>
            <a:lvl5pPr marL="2539350" indent="-400950">
              <a:lnSpc>
                <a:spcPct val="110000"/>
              </a:lnSpc>
              <a:spcBef>
                <a:spcPts val="0"/>
              </a:spcBef>
              <a:spcAft>
                <a:spcPts val="2105"/>
              </a:spcAft>
              <a:buChar char="•"/>
            </a:lvl5pPr>
            <a:lvl6pPr marL="3073950" indent="-400950">
              <a:lnSpc>
                <a:spcPct val="110000"/>
              </a:lnSpc>
              <a:spcBef>
                <a:spcPts val="0"/>
              </a:spcBef>
              <a:spcAft>
                <a:spcPts val="2105"/>
              </a:spcAft>
              <a:buChar char="•"/>
            </a:lvl6pPr>
            <a:lvl7pPr marL="3608550" indent="-400950">
              <a:lnSpc>
                <a:spcPct val="110000"/>
              </a:lnSpc>
              <a:spcBef>
                <a:spcPts val="0"/>
              </a:spcBef>
              <a:spcAft>
                <a:spcPts val="2105"/>
              </a:spcAft>
              <a:buChar char="•"/>
            </a:lvl7pPr>
            <a:lvl8pPr marL="4143150" indent="-400950">
              <a:lnSpc>
                <a:spcPct val="110000"/>
              </a:lnSpc>
              <a:spcBef>
                <a:spcPts val="0"/>
              </a:spcBef>
              <a:spcAft>
                <a:spcPts val="2105"/>
              </a:spcAft>
              <a:buChar char="•"/>
            </a:lvl8pPr>
            <a:lvl9pPr marL="4677750" indent="-400950">
              <a:lnSpc>
                <a:spcPct val="110000"/>
              </a:lnSpc>
              <a:spcBef>
                <a:spcPts val="0"/>
              </a:spcBef>
              <a:spcAft>
                <a:spcPts val="2105"/>
              </a:spcAft>
              <a:buChar char="•"/>
            </a:lvl9pPr>
          </a:lstStyle>
          <a:p>
            <a:pPr lvl="0"/>
          </a:p>
        </p:txBody>
      </p:sp>
    </p:spTree>
  </p:cSld>
  <p:clrMapOvr>
    <a:masterClrMapping/>
  </p:clrMapOvr>
  <p:hf dt="0"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hf dt="0" sldNum="0" hdr="0" ft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dt="0" sldNum="0" hdr="0" ftr="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 Type="http://schemas.openxmlformats.org/officeDocument/2006/relationships/image" Target="../media/image2.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 Id="rId26" Type="http://schemas.openxmlformats.org/officeDocument/2006/relationships/image" Target="../media/image25.png"/><Relationship Id="rId27" Type="http://schemas.openxmlformats.org/officeDocument/2006/relationships/image" Target="../media/image26.png"/><Relationship Id="rId28" Type="http://schemas.openxmlformats.org/officeDocument/2006/relationships/image" Target="../media/image27.png"/><Relationship Id="rId29" Type="http://schemas.openxmlformats.org/officeDocument/2006/relationships/chart" Target="../charts/chart2.xml"/><Relationship Id="rId3" Type="http://schemas.openxmlformats.org/officeDocument/2006/relationships/image" Target="../media/image3.png"/><Relationship Id="rId30" Type="http://schemas.openxmlformats.org/officeDocument/2006/relationships/image" Target="../media/image28.png"/><Relationship Id="rId31" Type="http://schemas.openxmlformats.org/officeDocument/2006/relationships/image" Target="../media/image29.png"/><Relationship Id="rId32" Type="http://schemas.openxmlformats.org/officeDocument/2006/relationships/image" Target="../media/image30.png"/><Relationship Id="rId33" Type="http://schemas.openxmlformats.org/officeDocument/2006/relationships/image" Target="../media/image31.png"/><Relationship Id="rId34" Type="http://schemas.openxmlformats.org/officeDocument/2006/relationships/image" Target="../media/image32.png"/><Relationship Id="rId35" Type="http://schemas.openxmlformats.org/officeDocument/2006/relationships/image" Target="../media/image33.png"/><Relationship Id="rId36" Type="http://schemas.openxmlformats.org/officeDocument/2006/relationships/slideLayout" Target="../slideLayouts/slideLayout6.xml"/><Relationship Id="rId37" Type="http://schemas.openxmlformats.org/officeDocument/2006/relationships/notesSlide" Target="../notesSlides/notesSlide1.xm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chart" Target="../charts/chart1.xml"/><Relationship Id="rId8" Type="http://schemas.openxmlformats.org/officeDocument/2006/relationships/image" Target="../media/image7.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237" name="Picture 236"/>
          <p:cNvPicPr>
            <a:picLocks noChangeAspect="1"/>
          </p:cNvPicPr>
          <p:nvPr/>
        </p:nvPicPr>
        <p:blipFill>
          <a:blip r:embed="rId1"/>
          <a:srcRect/>
          <a:stretch>
            <a:fillRect/>
          </a:stretch>
        </p:blipFill>
        <p:spPr>
          <a:xfrm>
            <a:off x="619125" y="319088"/>
            <a:ext cx="1666875" cy="1666875"/>
          </a:xfrm>
          <a:prstGeom prst="rect">
            <a:avLst/>
          </a:prstGeom>
        </p:spPr>
      </p:pic>
      <p:sp>
        <p:nvSpPr>
          <p:cNvPr id="2" name="text-1"/>
          <p:cNvSpPr>
            <a:spLocks noGrp="1"/>
          </p:cNvSpPr>
          <p:nvPr/>
        </p:nvSpPr>
        <p:spPr>
          <a:xfrm>
            <a:off x="2647950" y="447675"/>
            <a:ext cx="17811750" cy="581025"/>
          </a:xfrm>
          <a:prstGeom prst="rect">
            <a:avLst/>
          </a:prstGeom>
          <a:noFill/>
          <a:ln w="0">
            <a:noFill/>
          </a:ln>
        </p:spPr>
        <p:txBody>
          <a:bodyPr wrap="square" lIns="0" tIns="0" rIns="0" bIns="0" anchor="t">
            <a:noAutofit/>
          </a:bodyPr>
          <a:lstStyle/>
          <a:p>
            <a:pPr algn="l"/>
            <a:r>
              <a:rPr sz="3675" b="1">
                <a:solidFill>
                  <a:srgbClr val="071F36"/>
                </a:solidFill>
                <a:latin typeface="Arial"/>
                <a:ea typeface="Arial"/>
                <a:cs typeface="Arial"/>
              </a:rPr>
              <a:t>Bangladesh University of Business and Technology (BUBT)</a:t>
            </a:r>
          </a:p>
        </p:txBody>
      </p:sp>
      <p:sp>
        <p:nvSpPr>
          <p:cNvPr id="3" name="text-2"/>
          <p:cNvSpPr>
            <a:spLocks noGrp="1"/>
          </p:cNvSpPr>
          <p:nvPr/>
        </p:nvSpPr>
        <p:spPr>
          <a:xfrm>
            <a:off x="2647950" y="1104900"/>
            <a:ext cx="16668750" cy="447675"/>
          </a:xfrm>
          <a:prstGeom prst="rect">
            <a:avLst/>
          </a:prstGeom>
          <a:noFill/>
          <a:ln w="0">
            <a:noFill/>
          </a:ln>
        </p:spPr>
        <p:txBody>
          <a:bodyPr wrap="square" lIns="0" tIns="0" rIns="0" bIns="0" anchor="t">
            <a:noAutofit/>
          </a:bodyPr>
          <a:lstStyle/>
          <a:p>
            <a:pPr algn="l"/>
            <a:r>
              <a:rPr sz="2625" b="0">
                <a:solidFill>
                  <a:srgbClr val="486174"/>
                </a:solidFill>
                <a:latin typeface="Arial"/>
                <a:ea typeface="Arial"/>
                <a:cs typeface="Arial"/>
              </a:rPr>
              <a:t>Department of Computer Science and Engineering</a:t>
            </a:r>
          </a:p>
        </p:txBody>
      </p:sp>
      <p:pic>
        <p:nvPicPr>
          <p:cNvPr id="4" name="Picture 3"/>
          <p:cNvPicPr>
            <a:picLocks noChangeAspect="1"/>
          </p:cNvPicPr>
          <p:nvPr/>
        </p:nvPicPr>
        <p:blipFill>
          <a:blip r:embed="rId2"/>
          <a:srcRect t="30800" b="30800"/>
          <a:stretch/>
        </p:blipFill>
        <p:spPr>
          <a:xfrm>
            <a:off x="571500" y="1962150"/>
            <a:ext cx="20241000" cy="2590800"/>
          </a:xfrm>
          <a:prstGeom prst="rect">
            <a:avLst/>
          </a:prstGeom>
        </p:spPr>
      </p:pic>
      <p:sp>
        <p:nvSpPr>
          <p:cNvPr id="5" name="text-3"/>
          <p:cNvSpPr>
            <a:spLocks noGrp="1"/>
          </p:cNvSpPr>
          <p:nvPr/>
        </p:nvSpPr>
        <p:spPr>
          <a:xfrm>
            <a:off x="838200" y="2209800"/>
            <a:ext cx="18335625" cy="895350"/>
          </a:xfrm>
          <a:prstGeom prst="rect">
            <a:avLst/>
          </a:prstGeom>
          <a:noFill/>
          <a:ln w="0">
            <a:noFill/>
          </a:ln>
        </p:spPr>
        <p:txBody>
          <a:bodyPr wrap="square" lIns="0" tIns="0" rIns="0" bIns="0" anchor="t">
            <a:noAutofit/>
          </a:bodyPr>
          <a:lstStyle/>
          <a:p>
            <a:pPr algn="l"/>
            <a:r>
              <a:rPr sz="5400" b="1">
                <a:solidFill>
                  <a:srgbClr val="FFFFFF"/>
                </a:solidFill>
                <a:latin typeface="Arial"/>
                <a:ea typeface="Arial"/>
                <a:cs typeface="Arial"/>
              </a:rPr>
              <a:t>Fine-Grained Bengali Toxicity Understanding</a:t>
            </a:r>
          </a:p>
        </p:txBody>
      </p:sp>
      <p:sp>
        <p:nvSpPr>
          <p:cNvPr id="6" name="text-4"/>
          <p:cNvSpPr>
            <a:spLocks noGrp="1"/>
          </p:cNvSpPr>
          <p:nvPr/>
        </p:nvSpPr>
        <p:spPr>
          <a:xfrm>
            <a:off x="876300" y="3114675"/>
            <a:ext cx="17621250" cy="542925"/>
          </a:xfrm>
          <a:prstGeom prst="rect">
            <a:avLst/>
          </a:prstGeom>
          <a:noFill/>
          <a:ln w="0">
            <a:noFill/>
          </a:ln>
        </p:spPr>
        <p:txBody>
          <a:bodyPr wrap="square" lIns="0" tIns="0" rIns="0" bIns="0" anchor="t">
            <a:noAutofit/>
          </a:bodyPr>
          <a:lstStyle/>
          <a:p>
            <a:pPr algn="l"/>
            <a:r>
              <a:rPr sz="2925" b="0">
                <a:solidFill>
                  <a:srgbClr val="A9EBF2"/>
                </a:solidFill>
                <a:latin typeface="Arial"/>
                <a:ea typeface="Arial"/>
                <a:cs typeface="Arial"/>
              </a:rPr>
              <a:t>V38: a label-wise ensemble for Bengali and Banglish safety</a:t>
            </a:r>
          </a:p>
        </p:txBody>
      </p:sp>
      <p:sp>
        <p:nvSpPr>
          <p:cNvPr id="7" name="text-5"/>
          <p:cNvSpPr>
            <a:spLocks noGrp="1"/>
          </p:cNvSpPr>
          <p:nvPr/>
        </p:nvSpPr>
        <p:spPr>
          <a:xfrm>
            <a:off x="876300" y="3695700"/>
            <a:ext cx="15811500" cy="400050"/>
          </a:xfrm>
          <a:prstGeom prst="rect">
            <a:avLst/>
          </a:prstGeom>
          <a:noFill/>
          <a:ln w="0">
            <a:noFill/>
          </a:ln>
        </p:spPr>
        <p:txBody>
          <a:bodyPr wrap="square" lIns="0" tIns="0" rIns="0" bIns="0" anchor="t">
            <a:noAutofit/>
          </a:bodyPr>
          <a:lstStyle/>
          <a:p>
            <a:pPr algn="l"/>
            <a:r>
              <a:rPr sz="2475" b="1">
                <a:solidFill>
                  <a:srgbClr val="FFFFFF"/>
                </a:solidFill>
                <a:latin typeface="Arial"/>
                <a:ea typeface="Arial"/>
                <a:cs typeface="Arial"/>
              </a:rPr>
              <a:t>Sayem Islam Leon  ·  Samira Ibrahim  ·  Mohd. Mayasur Uddin Dip</a:t>
            </a:r>
          </a:p>
        </p:txBody>
      </p:sp>
      <p:sp>
        <p:nvSpPr>
          <p:cNvPr id="8" name="text-6"/>
          <p:cNvSpPr>
            <a:spLocks noGrp="1"/>
          </p:cNvSpPr>
          <p:nvPr/>
        </p:nvSpPr>
        <p:spPr>
          <a:xfrm>
            <a:off x="876300" y="4171950"/>
            <a:ext cx="14097000" cy="352425"/>
          </a:xfrm>
          <a:prstGeom prst="rect">
            <a:avLst/>
          </a:prstGeom>
          <a:noFill/>
          <a:ln w="0">
            <a:noFill/>
          </a:ln>
        </p:spPr>
        <p:txBody>
          <a:bodyPr wrap="square" lIns="0" tIns="0" rIns="0" bIns="0" anchor="t">
            <a:noAutofit/>
          </a:bodyPr>
          <a:lstStyle/>
          <a:p>
            <a:pPr algn="l"/>
            <a:r>
              <a:rPr sz="2250" b="0">
                <a:solidFill>
                  <a:srgbClr val="FFFFFF"/>
                </a:solidFill>
                <a:latin typeface="Arial"/>
                <a:ea typeface="Arial"/>
                <a:cs typeface="Arial"/>
              </a:rPr>
              <a:t>Supervisor: Md. Darun Nayeem</a:t>
            </a:r>
          </a:p>
        </p:txBody>
      </p:sp>
      <p:sp>
        <p:nvSpPr>
          <p:cNvPr id="9" name="text-7"/>
          <p:cNvSpPr>
            <a:spLocks noGrp="1"/>
          </p:cNvSpPr>
          <p:nvPr/>
        </p:nvSpPr>
        <p:spPr>
          <a:xfrm>
            <a:off x="16192500" y="3848100"/>
            <a:ext cx="4191000" cy="504825"/>
          </a:xfrm>
          <a:prstGeom prst="rect">
            <a:avLst/>
          </a:prstGeom>
          <a:noFill/>
          <a:ln w="0">
            <a:noFill/>
          </a:ln>
        </p:spPr>
        <p:txBody>
          <a:bodyPr wrap="square" lIns="0" tIns="0" rIns="0" bIns="0" anchor="t">
            <a:noAutofit/>
          </a:bodyPr>
          <a:lstStyle/>
          <a:p>
            <a:pPr algn="r"/>
            <a:r>
              <a:rPr sz="3200" b="1">
                <a:solidFill>
                  <a:schemeClr val="bg1"/>
                </a:solidFill>
                <a:latin typeface="Arial"/>
                <a:ea typeface="Arial"/>
                <a:cs typeface="Arial"/>
              </a:rPr>
              <a:t>TEAM ALIEN_X</a:t>
            </a:r>
          </a:p>
        </p:txBody>
      </p:sp>
      <p:sp>
        <p:nvSpPr>
          <p:cNvPr id="10" name="shape-8"/>
          <p:cNvSpPr>
            <a:spLocks noGrp="1"/>
          </p:cNvSpPr>
          <p:nvPr/>
        </p:nvSpPr>
        <p:spPr>
          <a:xfrm>
            <a:off x="571500" y="4800600"/>
            <a:ext cx="6534150" cy="3219450"/>
          </a:xfrm>
          <a:prstGeom prst="rect">
            <a:avLst/>
          </a:prstGeom>
          <a:solidFill>
            <a:srgbClr val="FFFFFF"/>
          </a:solidFill>
          <a:ln w="14288">
            <a:solidFill>
              <a:srgbClr val="B6D7E1"/>
            </a:solidFill>
          </a:ln>
        </p:spPr>
        <p:txBody>
          <a:bodyPr/>
          <a:lstStyle/>
          <a:p/>
        </p:txBody>
      </p:sp>
      <p:sp>
        <p:nvSpPr>
          <p:cNvPr id="11" name="shape-9"/>
          <p:cNvSpPr>
            <a:spLocks noGrp="1"/>
          </p:cNvSpPr>
          <p:nvPr/>
        </p:nvSpPr>
        <p:spPr>
          <a:xfrm>
            <a:off x="571500" y="4800600"/>
            <a:ext cx="6534150" cy="552450"/>
          </a:xfrm>
          <a:prstGeom prst="rect">
            <a:avLst/>
          </a:prstGeom>
          <a:solidFill>
            <a:srgbClr val="071F36"/>
          </a:solidFill>
          <a:ln w="0">
            <a:noFill/>
          </a:ln>
        </p:spPr>
        <p:txBody>
          <a:bodyPr/>
          <a:lstStyle/>
          <a:p/>
        </p:txBody>
      </p:sp>
      <p:sp>
        <p:nvSpPr>
          <p:cNvPr id="12" name="shape-10"/>
          <p:cNvSpPr>
            <a:spLocks noGrp="1"/>
          </p:cNvSpPr>
          <p:nvPr/>
        </p:nvSpPr>
        <p:spPr>
          <a:xfrm>
            <a:off x="571500" y="4800600"/>
            <a:ext cx="66675" cy="552450"/>
          </a:xfrm>
          <a:prstGeom prst="rect">
            <a:avLst/>
          </a:prstGeom>
          <a:solidFill>
            <a:srgbClr val="00ACC7"/>
          </a:solidFill>
          <a:ln w="0">
            <a:noFill/>
          </a:ln>
        </p:spPr>
        <p:txBody>
          <a:bodyPr/>
          <a:lstStyle/>
          <a:p/>
        </p:txBody>
      </p:sp>
      <p:pic>
        <p:nvPicPr>
          <p:cNvPr id="13" name="Picture 12"/>
          <p:cNvPicPr>
            <a:picLocks noChangeAspect="1"/>
          </p:cNvPicPr>
          <p:nvPr/>
        </p:nvPicPr>
        <p:blipFill>
          <a:blip r:embed="rId3"/>
          <a:srcRect/>
          <a:stretch>
            <a:fillRect/>
          </a:stretch>
        </p:blipFill>
        <p:spPr>
          <a:xfrm>
            <a:off x="781050" y="4905375"/>
            <a:ext cx="352425" cy="352425"/>
          </a:xfrm>
          <a:prstGeom prst="rect">
            <a:avLst/>
          </a:prstGeom>
        </p:spPr>
      </p:pic>
      <p:sp>
        <p:nvSpPr>
          <p:cNvPr id="14" name="text-11"/>
          <p:cNvSpPr>
            <a:spLocks noGrp="1"/>
          </p:cNvSpPr>
          <p:nvPr/>
        </p:nvSpPr>
        <p:spPr>
          <a:xfrm>
            <a:off x="1314450" y="4886325"/>
            <a:ext cx="5619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Abstract</a:t>
            </a:r>
          </a:p>
        </p:txBody>
      </p:sp>
      <p:sp>
        <p:nvSpPr>
          <p:cNvPr id="15" name="text-12"/>
          <p:cNvSpPr>
            <a:spLocks noGrp="1"/>
          </p:cNvSpPr>
          <p:nvPr/>
        </p:nvSpPr>
        <p:spPr>
          <a:xfrm>
            <a:off x="800100" y="5562600"/>
            <a:ext cx="6067425" cy="2238375"/>
          </a:xfrm>
          <a:prstGeom prst="rect">
            <a:avLst/>
          </a:prstGeom>
          <a:noFill/>
          <a:ln w="0">
            <a:noFill/>
          </a:ln>
        </p:spPr>
        <p:txBody>
          <a:bodyPr wrap="square" lIns="0" tIns="0" rIns="0" bIns="0" anchor="t">
            <a:noAutofit/>
          </a:bodyPr>
          <a:lstStyle/>
          <a:p>
            <a:pPr algn="l"/>
            <a:r>
              <a:rPr sz="2400" b="0">
                <a:solidFill>
                  <a:srgbClr val="17354B"/>
                </a:solidFill>
                <a:latin typeface="Arial"/>
                <a:ea typeface="Arial"/>
                <a:cs typeface="Arial"/>
              </a:rPr>
              <a:t>We combine language models and lexical features to identify harmful Bengali and Banglish text. The system predicts seven safety labels. A label-wise analysis highlights useful signals and the errors that need further attention.</a:t>
            </a:r>
          </a:p>
        </p:txBody>
      </p:sp>
      <p:sp>
        <p:nvSpPr>
          <p:cNvPr id="16" name="shape-13"/>
          <p:cNvSpPr>
            <a:spLocks noGrp="1"/>
          </p:cNvSpPr>
          <p:nvPr/>
        </p:nvSpPr>
        <p:spPr>
          <a:xfrm>
            <a:off x="7334250" y="4800600"/>
            <a:ext cx="6667500" cy="3219450"/>
          </a:xfrm>
          <a:prstGeom prst="rect">
            <a:avLst/>
          </a:prstGeom>
          <a:solidFill>
            <a:srgbClr val="FFFFFF"/>
          </a:solidFill>
          <a:ln w="14288">
            <a:solidFill>
              <a:srgbClr val="B6D7E1"/>
            </a:solidFill>
          </a:ln>
        </p:spPr>
        <p:txBody>
          <a:bodyPr/>
          <a:lstStyle/>
          <a:p/>
        </p:txBody>
      </p:sp>
      <p:sp>
        <p:nvSpPr>
          <p:cNvPr id="17" name="shape-14"/>
          <p:cNvSpPr>
            <a:spLocks noGrp="1"/>
          </p:cNvSpPr>
          <p:nvPr/>
        </p:nvSpPr>
        <p:spPr>
          <a:xfrm>
            <a:off x="7334250" y="4800600"/>
            <a:ext cx="6667500" cy="552450"/>
          </a:xfrm>
          <a:prstGeom prst="rect">
            <a:avLst/>
          </a:prstGeom>
          <a:solidFill>
            <a:srgbClr val="071F36"/>
          </a:solidFill>
          <a:ln w="0">
            <a:noFill/>
          </a:ln>
        </p:spPr>
        <p:txBody>
          <a:bodyPr/>
          <a:lstStyle/>
          <a:p/>
        </p:txBody>
      </p:sp>
      <p:sp>
        <p:nvSpPr>
          <p:cNvPr id="18" name="shape-15"/>
          <p:cNvSpPr>
            <a:spLocks noGrp="1"/>
          </p:cNvSpPr>
          <p:nvPr/>
        </p:nvSpPr>
        <p:spPr>
          <a:xfrm>
            <a:off x="7334250" y="4800600"/>
            <a:ext cx="66675" cy="552450"/>
          </a:xfrm>
          <a:prstGeom prst="rect">
            <a:avLst/>
          </a:prstGeom>
          <a:solidFill>
            <a:srgbClr val="00ACC7"/>
          </a:solidFill>
          <a:ln w="0">
            <a:noFill/>
          </a:ln>
        </p:spPr>
        <p:txBody>
          <a:bodyPr/>
          <a:lstStyle/>
          <a:p/>
        </p:txBody>
      </p:sp>
      <p:pic>
        <p:nvPicPr>
          <p:cNvPr id="19" name="Picture 18"/>
          <p:cNvPicPr>
            <a:picLocks noChangeAspect="1"/>
          </p:cNvPicPr>
          <p:nvPr/>
        </p:nvPicPr>
        <p:blipFill>
          <a:blip r:embed="rId4"/>
          <a:srcRect/>
          <a:stretch>
            <a:fillRect/>
          </a:stretch>
        </p:blipFill>
        <p:spPr>
          <a:xfrm>
            <a:off x="7543800" y="4905375"/>
            <a:ext cx="352425" cy="352425"/>
          </a:xfrm>
          <a:prstGeom prst="rect">
            <a:avLst/>
          </a:prstGeom>
        </p:spPr>
      </p:pic>
      <p:sp>
        <p:nvSpPr>
          <p:cNvPr id="20" name="text-16"/>
          <p:cNvSpPr>
            <a:spLocks noGrp="1"/>
          </p:cNvSpPr>
          <p:nvPr/>
        </p:nvSpPr>
        <p:spPr>
          <a:xfrm>
            <a:off x="8077200" y="4886325"/>
            <a:ext cx="575310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Introduction</a:t>
            </a:r>
          </a:p>
        </p:txBody>
      </p:sp>
      <p:sp>
        <p:nvSpPr>
          <p:cNvPr id="21" name="text-17"/>
          <p:cNvSpPr>
            <a:spLocks noGrp="1"/>
          </p:cNvSpPr>
          <p:nvPr/>
        </p:nvSpPr>
        <p:spPr>
          <a:xfrm>
            <a:off x="7572375" y="5534025"/>
            <a:ext cx="6172200" cy="1009650"/>
          </a:xfrm>
          <a:prstGeom prst="rect">
            <a:avLst/>
          </a:prstGeom>
          <a:noFill/>
          <a:ln w="0">
            <a:noFill/>
          </a:ln>
        </p:spPr>
        <p:txBody>
          <a:bodyPr wrap="square" lIns="0" tIns="0" rIns="0" bIns="0" anchor="t">
            <a:noAutofit/>
          </a:bodyPr>
          <a:lstStyle/>
          <a:p>
            <a:pPr algn="l"/>
            <a:r>
              <a:rPr sz="2250" b="0">
                <a:solidFill>
                  <a:srgbClr val="17354B"/>
                </a:solidFill>
                <a:latin typeface="Arial"/>
                <a:ea typeface="Arial"/>
                <a:cs typeface="Arial"/>
              </a:rPr>
              <a:t>Harmful language is not always explicit. Bengali and Banglish add challenges through mixed scripts and informal spelling.</a:t>
            </a:r>
          </a:p>
        </p:txBody>
      </p:sp>
      <p:sp>
        <p:nvSpPr>
          <p:cNvPr id="22" name="text-18"/>
          <p:cNvSpPr>
            <a:spLocks noGrp="1"/>
          </p:cNvSpPr>
          <p:nvPr/>
        </p:nvSpPr>
        <p:spPr>
          <a:xfrm>
            <a:off x="7591425" y="6572250"/>
            <a:ext cx="1866900" cy="581025"/>
          </a:xfrm>
          <a:prstGeom prst="rect">
            <a:avLst/>
          </a:prstGeom>
          <a:noFill/>
          <a:ln w="0">
            <a:noFill/>
          </a:ln>
        </p:spPr>
        <p:txBody>
          <a:bodyPr wrap="square" lIns="0" tIns="0" rIns="0" bIns="0" anchor="t">
            <a:noAutofit/>
          </a:bodyPr>
          <a:lstStyle/>
          <a:p>
            <a:pPr algn="ctr"/>
            <a:r>
              <a:rPr sz="3600" b="1">
                <a:solidFill>
                  <a:srgbClr val="167DB7"/>
                </a:solidFill>
                <a:latin typeface="Arial"/>
                <a:ea typeface="Arial"/>
                <a:cs typeface="Arial"/>
              </a:rPr>
              <a:t>3,297</a:t>
            </a:r>
          </a:p>
        </p:txBody>
      </p:sp>
      <p:sp>
        <p:nvSpPr>
          <p:cNvPr id="23" name="text-19"/>
          <p:cNvSpPr>
            <a:spLocks noGrp="1"/>
          </p:cNvSpPr>
          <p:nvPr/>
        </p:nvSpPr>
        <p:spPr>
          <a:xfrm>
            <a:off x="7505700" y="7210425"/>
            <a:ext cx="2028825" cy="333375"/>
          </a:xfrm>
          <a:prstGeom prst="rect">
            <a:avLst/>
          </a:prstGeom>
          <a:noFill/>
          <a:ln w="0">
            <a:noFill/>
          </a:ln>
        </p:spPr>
        <p:txBody>
          <a:bodyPr wrap="square" lIns="0" tIns="0" rIns="0" bIns="0" anchor="t">
            <a:noAutofit/>
          </a:bodyPr>
          <a:lstStyle/>
          <a:p>
            <a:pPr algn="ctr"/>
            <a:r>
              <a:rPr sz="1800" b="1">
                <a:solidFill>
                  <a:srgbClr val="486174"/>
                </a:solidFill>
                <a:latin typeface="Arial"/>
                <a:ea typeface="Arial"/>
                <a:cs typeface="Arial"/>
              </a:rPr>
              <a:t>TRAIN</a:t>
            </a:r>
          </a:p>
        </p:txBody>
      </p:sp>
      <p:sp>
        <p:nvSpPr>
          <p:cNvPr id="24" name="text-20"/>
          <p:cNvSpPr>
            <a:spLocks noGrp="1"/>
          </p:cNvSpPr>
          <p:nvPr/>
        </p:nvSpPr>
        <p:spPr>
          <a:xfrm>
            <a:off x="9629775" y="6572250"/>
            <a:ext cx="1866900" cy="581025"/>
          </a:xfrm>
          <a:prstGeom prst="rect">
            <a:avLst/>
          </a:prstGeom>
          <a:noFill/>
          <a:ln w="0">
            <a:noFill/>
          </a:ln>
        </p:spPr>
        <p:txBody>
          <a:bodyPr wrap="square" lIns="0" tIns="0" rIns="0" bIns="0" anchor="t">
            <a:noAutofit/>
          </a:bodyPr>
          <a:lstStyle/>
          <a:p>
            <a:pPr algn="ctr"/>
            <a:r>
              <a:rPr sz="3600" b="1">
                <a:solidFill>
                  <a:srgbClr val="167DB7"/>
                </a:solidFill>
                <a:latin typeface="Arial"/>
                <a:ea typeface="Arial"/>
                <a:cs typeface="Arial"/>
              </a:rPr>
              <a:t>500</a:t>
            </a:r>
          </a:p>
        </p:txBody>
      </p:sp>
      <p:sp>
        <p:nvSpPr>
          <p:cNvPr id="25" name="text-21"/>
          <p:cNvSpPr>
            <a:spLocks noGrp="1"/>
          </p:cNvSpPr>
          <p:nvPr/>
        </p:nvSpPr>
        <p:spPr>
          <a:xfrm>
            <a:off x="9544050" y="7210425"/>
            <a:ext cx="2028825" cy="333375"/>
          </a:xfrm>
          <a:prstGeom prst="rect">
            <a:avLst/>
          </a:prstGeom>
          <a:noFill/>
          <a:ln w="0">
            <a:noFill/>
          </a:ln>
        </p:spPr>
        <p:txBody>
          <a:bodyPr wrap="square" lIns="0" tIns="0" rIns="0" bIns="0" anchor="t">
            <a:noAutofit/>
          </a:bodyPr>
          <a:lstStyle/>
          <a:p>
            <a:pPr algn="ctr"/>
            <a:r>
              <a:rPr sz="1800" b="1">
                <a:solidFill>
                  <a:srgbClr val="486174"/>
                </a:solidFill>
                <a:latin typeface="Arial"/>
                <a:ea typeface="Arial"/>
                <a:cs typeface="Arial"/>
              </a:rPr>
              <a:t>DEVELOPMENT</a:t>
            </a:r>
          </a:p>
        </p:txBody>
      </p:sp>
      <p:sp>
        <p:nvSpPr>
          <p:cNvPr id="26" name="text-22"/>
          <p:cNvSpPr>
            <a:spLocks noGrp="1"/>
          </p:cNvSpPr>
          <p:nvPr/>
        </p:nvSpPr>
        <p:spPr>
          <a:xfrm>
            <a:off x="11668125" y="6572250"/>
            <a:ext cx="1866900" cy="581025"/>
          </a:xfrm>
          <a:prstGeom prst="rect">
            <a:avLst/>
          </a:prstGeom>
          <a:noFill/>
          <a:ln w="0">
            <a:noFill/>
          </a:ln>
        </p:spPr>
        <p:txBody>
          <a:bodyPr wrap="square" lIns="0" tIns="0" rIns="0" bIns="0" anchor="t">
            <a:noAutofit/>
          </a:bodyPr>
          <a:lstStyle/>
          <a:p>
            <a:pPr algn="ctr"/>
            <a:r>
              <a:rPr sz="3600" b="1">
                <a:solidFill>
                  <a:srgbClr val="167DB7"/>
                </a:solidFill>
                <a:latin typeface="Arial"/>
                <a:ea typeface="Arial"/>
                <a:cs typeface="Arial"/>
              </a:rPr>
              <a:t>1,000</a:t>
            </a:r>
          </a:p>
        </p:txBody>
      </p:sp>
      <p:sp>
        <p:nvSpPr>
          <p:cNvPr id="27" name="text-23"/>
          <p:cNvSpPr>
            <a:spLocks noGrp="1"/>
          </p:cNvSpPr>
          <p:nvPr/>
        </p:nvSpPr>
        <p:spPr>
          <a:xfrm>
            <a:off x="11582400" y="7210425"/>
            <a:ext cx="2028825" cy="333375"/>
          </a:xfrm>
          <a:prstGeom prst="rect">
            <a:avLst/>
          </a:prstGeom>
          <a:noFill/>
          <a:ln w="0">
            <a:noFill/>
          </a:ln>
        </p:spPr>
        <p:txBody>
          <a:bodyPr wrap="square" lIns="0" tIns="0" rIns="0" bIns="0" anchor="t">
            <a:noAutofit/>
          </a:bodyPr>
          <a:lstStyle/>
          <a:p>
            <a:pPr algn="ctr"/>
            <a:r>
              <a:rPr sz="1800" b="1">
                <a:solidFill>
                  <a:srgbClr val="486174"/>
                </a:solidFill>
                <a:latin typeface="Arial"/>
                <a:ea typeface="Arial"/>
                <a:cs typeface="Arial"/>
              </a:rPr>
              <a:t>HIDDEN TEST</a:t>
            </a:r>
          </a:p>
        </p:txBody>
      </p:sp>
      <p:sp>
        <p:nvSpPr>
          <p:cNvPr id="28" name="text-24"/>
          <p:cNvSpPr>
            <a:spLocks noGrp="1"/>
          </p:cNvSpPr>
          <p:nvPr/>
        </p:nvSpPr>
        <p:spPr>
          <a:xfrm>
            <a:off x="7572375" y="7620000"/>
            <a:ext cx="6191250" cy="304800"/>
          </a:xfrm>
          <a:prstGeom prst="rect">
            <a:avLst/>
          </a:prstGeom>
          <a:noFill/>
          <a:ln w="0">
            <a:noFill/>
          </a:ln>
        </p:spPr>
        <p:txBody>
          <a:bodyPr wrap="square" lIns="0" tIns="0" rIns="0" bIns="0" anchor="t">
            <a:noAutofit/>
          </a:bodyPr>
          <a:lstStyle/>
          <a:p>
            <a:pPr algn="l"/>
            <a:r>
              <a:rPr sz="1800" b="0">
                <a:solidFill>
                  <a:srgbClr val="486174"/>
                </a:solidFill>
                <a:latin typeface="Arial"/>
                <a:ea typeface="Arial"/>
                <a:cs typeface="Arial"/>
              </a:rPr>
              <a:t>Historical dataset; a text may have several labels.</a:t>
            </a:r>
          </a:p>
        </p:txBody>
      </p:sp>
      <p:sp>
        <p:nvSpPr>
          <p:cNvPr id="29" name="shape-25"/>
          <p:cNvSpPr>
            <a:spLocks noGrp="1"/>
          </p:cNvSpPr>
          <p:nvPr/>
        </p:nvSpPr>
        <p:spPr>
          <a:xfrm>
            <a:off x="14230350" y="4800600"/>
            <a:ext cx="6582150" cy="3219450"/>
          </a:xfrm>
          <a:prstGeom prst="rect">
            <a:avLst/>
          </a:prstGeom>
          <a:solidFill>
            <a:srgbClr val="FFFFFF"/>
          </a:solidFill>
          <a:ln w="14288">
            <a:solidFill>
              <a:srgbClr val="B6D7E1"/>
            </a:solidFill>
          </a:ln>
        </p:spPr>
        <p:txBody>
          <a:bodyPr/>
          <a:lstStyle/>
          <a:p/>
        </p:txBody>
      </p:sp>
      <p:sp>
        <p:nvSpPr>
          <p:cNvPr id="30" name="shape-26"/>
          <p:cNvSpPr>
            <a:spLocks noGrp="1"/>
          </p:cNvSpPr>
          <p:nvPr/>
        </p:nvSpPr>
        <p:spPr>
          <a:xfrm>
            <a:off x="14230350" y="4800600"/>
            <a:ext cx="6582150" cy="552450"/>
          </a:xfrm>
          <a:prstGeom prst="rect">
            <a:avLst/>
          </a:prstGeom>
          <a:solidFill>
            <a:srgbClr val="071F36"/>
          </a:solidFill>
          <a:ln w="0">
            <a:noFill/>
          </a:ln>
        </p:spPr>
        <p:txBody>
          <a:bodyPr/>
          <a:lstStyle/>
          <a:p/>
        </p:txBody>
      </p:sp>
      <p:sp>
        <p:nvSpPr>
          <p:cNvPr id="31" name="shape-27"/>
          <p:cNvSpPr>
            <a:spLocks noGrp="1"/>
          </p:cNvSpPr>
          <p:nvPr/>
        </p:nvSpPr>
        <p:spPr>
          <a:xfrm>
            <a:off x="14230350" y="4800600"/>
            <a:ext cx="66675" cy="552450"/>
          </a:xfrm>
          <a:prstGeom prst="rect">
            <a:avLst/>
          </a:prstGeom>
          <a:solidFill>
            <a:srgbClr val="00ACC7"/>
          </a:solidFill>
          <a:ln w="0">
            <a:noFill/>
          </a:ln>
        </p:spPr>
        <p:txBody>
          <a:bodyPr/>
          <a:lstStyle/>
          <a:p/>
        </p:txBody>
      </p:sp>
      <p:pic>
        <p:nvPicPr>
          <p:cNvPr id="32" name="Picture 31"/>
          <p:cNvPicPr>
            <a:picLocks noChangeAspect="1"/>
          </p:cNvPicPr>
          <p:nvPr/>
        </p:nvPicPr>
        <p:blipFill>
          <a:blip r:embed="rId5"/>
          <a:srcRect/>
          <a:stretch>
            <a:fillRect/>
          </a:stretch>
        </p:blipFill>
        <p:spPr>
          <a:xfrm>
            <a:off x="14439900" y="4905375"/>
            <a:ext cx="352425" cy="352425"/>
          </a:xfrm>
          <a:prstGeom prst="rect">
            <a:avLst/>
          </a:prstGeom>
        </p:spPr>
      </p:pic>
      <p:sp>
        <p:nvSpPr>
          <p:cNvPr id="33" name="text-28"/>
          <p:cNvSpPr>
            <a:spLocks noGrp="1"/>
          </p:cNvSpPr>
          <p:nvPr/>
        </p:nvSpPr>
        <p:spPr>
          <a:xfrm>
            <a:off x="14973300" y="4886325"/>
            <a:ext cx="5667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Objectives</a:t>
            </a:r>
          </a:p>
        </p:txBody>
      </p:sp>
      <p:sp>
        <p:nvSpPr>
          <p:cNvPr id="34" name="text-29"/>
          <p:cNvSpPr>
            <a:spLocks noGrp="1"/>
          </p:cNvSpPr>
          <p:nvPr/>
        </p:nvSpPr>
        <p:spPr>
          <a:xfrm>
            <a:off x="14487525" y="5610225"/>
            <a:ext cx="523875" cy="476250"/>
          </a:xfrm>
          <a:prstGeom prst="rect">
            <a:avLst/>
          </a:prstGeom>
          <a:noFill/>
          <a:ln w="0">
            <a:noFill/>
          </a:ln>
        </p:spPr>
        <p:txBody>
          <a:bodyPr wrap="square" lIns="0" tIns="0" rIns="0" bIns="0" anchor="t">
            <a:noAutofit/>
          </a:bodyPr>
          <a:lstStyle/>
          <a:p>
            <a:pPr algn="l"/>
            <a:r>
              <a:rPr sz="2550" b="1">
                <a:solidFill>
                  <a:srgbClr val="00ACC7"/>
                </a:solidFill>
                <a:latin typeface="Arial"/>
                <a:ea typeface="Arial"/>
                <a:cs typeface="Arial"/>
              </a:rPr>
              <a:t>01</a:t>
            </a:r>
          </a:p>
        </p:txBody>
      </p:sp>
      <p:sp>
        <p:nvSpPr>
          <p:cNvPr id="35" name="text-30"/>
          <p:cNvSpPr>
            <a:spLocks noGrp="1"/>
          </p:cNvSpPr>
          <p:nvPr/>
        </p:nvSpPr>
        <p:spPr>
          <a:xfrm>
            <a:off x="15068550" y="5610225"/>
            <a:ext cx="5381625" cy="695325"/>
          </a:xfrm>
          <a:prstGeom prst="rect">
            <a:avLst/>
          </a:prstGeom>
          <a:noFill/>
          <a:ln w="0">
            <a:noFill/>
          </a:ln>
        </p:spPr>
        <p:txBody>
          <a:bodyPr wrap="square" lIns="0" tIns="0" rIns="0" bIns="0" anchor="t">
            <a:noAutofit/>
          </a:bodyPr>
          <a:lstStyle/>
          <a:p>
            <a:pPr algn="l"/>
            <a:r>
              <a:rPr sz="2325" b="1">
                <a:solidFill>
                  <a:srgbClr val="17354B"/>
                </a:solidFill>
                <a:latin typeface="Arial"/>
                <a:ea typeface="Arial"/>
                <a:cs typeface="Arial"/>
              </a:rPr>
              <a:t>Recognize both direct and subtle harm</a:t>
            </a:r>
          </a:p>
        </p:txBody>
      </p:sp>
      <p:sp>
        <p:nvSpPr>
          <p:cNvPr id="36" name="text-31"/>
          <p:cNvSpPr>
            <a:spLocks noGrp="1"/>
          </p:cNvSpPr>
          <p:nvPr/>
        </p:nvSpPr>
        <p:spPr>
          <a:xfrm>
            <a:off x="14487525" y="6353175"/>
            <a:ext cx="523875" cy="476250"/>
          </a:xfrm>
          <a:prstGeom prst="rect">
            <a:avLst/>
          </a:prstGeom>
          <a:noFill/>
          <a:ln w="0">
            <a:noFill/>
          </a:ln>
        </p:spPr>
        <p:txBody>
          <a:bodyPr wrap="square" lIns="0" tIns="0" rIns="0" bIns="0" anchor="t">
            <a:noAutofit/>
          </a:bodyPr>
          <a:lstStyle/>
          <a:p>
            <a:pPr algn="l"/>
            <a:r>
              <a:rPr sz="2550" b="1">
                <a:solidFill>
                  <a:srgbClr val="00ACC7"/>
                </a:solidFill>
                <a:latin typeface="Arial"/>
                <a:ea typeface="Arial"/>
                <a:cs typeface="Arial"/>
              </a:rPr>
              <a:t>02</a:t>
            </a:r>
          </a:p>
        </p:txBody>
      </p:sp>
      <p:sp>
        <p:nvSpPr>
          <p:cNvPr id="37" name="text-32"/>
          <p:cNvSpPr>
            <a:spLocks noGrp="1"/>
          </p:cNvSpPr>
          <p:nvPr/>
        </p:nvSpPr>
        <p:spPr>
          <a:xfrm>
            <a:off x="15068550" y="6353175"/>
            <a:ext cx="5381625" cy="695325"/>
          </a:xfrm>
          <a:prstGeom prst="rect">
            <a:avLst/>
          </a:prstGeom>
          <a:noFill/>
          <a:ln w="0">
            <a:noFill/>
          </a:ln>
        </p:spPr>
        <p:txBody>
          <a:bodyPr wrap="square" lIns="0" tIns="0" rIns="0" bIns="0" anchor="t">
            <a:noAutofit/>
          </a:bodyPr>
          <a:lstStyle/>
          <a:p>
            <a:pPr algn="l"/>
            <a:r>
              <a:rPr sz="2325" b="1">
                <a:solidFill>
                  <a:srgbClr val="17354B"/>
                </a:solidFill>
                <a:latin typeface="Arial"/>
                <a:ea typeface="Arial"/>
                <a:cs typeface="Arial"/>
              </a:rPr>
              <a:t>Combine meaning with useful word patterns</a:t>
            </a:r>
          </a:p>
        </p:txBody>
      </p:sp>
      <p:sp>
        <p:nvSpPr>
          <p:cNvPr id="38" name="text-33"/>
          <p:cNvSpPr>
            <a:spLocks noGrp="1"/>
          </p:cNvSpPr>
          <p:nvPr/>
        </p:nvSpPr>
        <p:spPr>
          <a:xfrm>
            <a:off x="14487525" y="7096125"/>
            <a:ext cx="523875" cy="476250"/>
          </a:xfrm>
          <a:prstGeom prst="rect">
            <a:avLst/>
          </a:prstGeom>
          <a:noFill/>
          <a:ln w="0">
            <a:noFill/>
          </a:ln>
        </p:spPr>
        <p:txBody>
          <a:bodyPr wrap="square" lIns="0" tIns="0" rIns="0" bIns="0" anchor="t">
            <a:noAutofit/>
          </a:bodyPr>
          <a:lstStyle/>
          <a:p>
            <a:pPr algn="l"/>
            <a:r>
              <a:rPr sz="2550" b="1">
                <a:solidFill>
                  <a:srgbClr val="00ACC7"/>
                </a:solidFill>
                <a:latin typeface="Arial"/>
                <a:ea typeface="Arial"/>
                <a:cs typeface="Arial"/>
              </a:rPr>
              <a:t>03</a:t>
            </a:r>
          </a:p>
        </p:txBody>
      </p:sp>
      <p:sp>
        <p:nvSpPr>
          <p:cNvPr id="39" name="text-34"/>
          <p:cNvSpPr>
            <a:spLocks noGrp="1"/>
          </p:cNvSpPr>
          <p:nvPr/>
        </p:nvSpPr>
        <p:spPr>
          <a:xfrm>
            <a:off x="15068550" y="7096125"/>
            <a:ext cx="5381625" cy="695325"/>
          </a:xfrm>
          <a:prstGeom prst="rect">
            <a:avLst/>
          </a:prstGeom>
          <a:noFill/>
          <a:ln w="0">
            <a:noFill/>
          </a:ln>
        </p:spPr>
        <p:txBody>
          <a:bodyPr wrap="square" lIns="0" tIns="0" rIns="0" bIns="0" anchor="t">
            <a:noAutofit/>
          </a:bodyPr>
          <a:lstStyle/>
          <a:p>
            <a:pPr algn="l"/>
            <a:r>
              <a:rPr sz="2325" b="1">
                <a:solidFill>
                  <a:srgbClr val="17354B"/>
                </a:solidFill>
                <a:latin typeface="Arial"/>
                <a:ea typeface="Arial"/>
                <a:cs typeface="Arial"/>
              </a:rPr>
              <a:t>Understand errors for each safety label</a:t>
            </a:r>
          </a:p>
        </p:txBody>
      </p:sp>
      <p:sp>
        <p:nvSpPr>
          <p:cNvPr id="40" name="shape-35"/>
          <p:cNvSpPr>
            <a:spLocks noGrp="1"/>
          </p:cNvSpPr>
          <p:nvPr/>
        </p:nvSpPr>
        <p:spPr>
          <a:xfrm>
            <a:off x="571500" y="8267700"/>
            <a:ext cx="5810250" cy="6019800"/>
          </a:xfrm>
          <a:prstGeom prst="rect">
            <a:avLst/>
          </a:prstGeom>
          <a:solidFill>
            <a:srgbClr val="FFFFFF"/>
          </a:solidFill>
          <a:ln w="14288">
            <a:solidFill>
              <a:srgbClr val="B6D7E1"/>
            </a:solidFill>
          </a:ln>
        </p:spPr>
        <p:txBody>
          <a:bodyPr/>
          <a:lstStyle/>
          <a:p/>
        </p:txBody>
      </p:sp>
      <p:sp>
        <p:nvSpPr>
          <p:cNvPr id="41" name="shape-36"/>
          <p:cNvSpPr>
            <a:spLocks noGrp="1"/>
          </p:cNvSpPr>
          <p:nvPr/>
        </p:nvSpPr>
        <p:spPr>
          <a:xfrm>
            <a:off x="571500" y="8267700"/>
            <a:ext cx="5810250" cy="552450"/>
          </a:xfrm>
          <a:prstGeom prst="rect">
            <a:avLst/>
          </a:prstGeom>
          <a:solidFill>
            <a:srgbClr val="071F36"/>
          </a:solidFill>
          <a:ln w="0">
            <a:noFill/>
          </a:ln>
        </p:spPr>
        <p:txBody>
          <a:bodyPr/>
          <a:lstStyle/>
          <a:p/>
        </p:txBody>
      </p:sp>
      <p:sp>
        <p:nvSpPr>
          <p:cNvPr id="42" name="shape-37"/>
          <p:cNvSpPr>
            <a:spLocks noGrp="1"/>
          </p:cNvSpPr>
          <p:nvPr/>
        </p:nvSpPr>
        <p:spPr>
          <a:xfrm>
            <a:off x="571500" y="8267700"/>
            <a:ext cx="66675" cy="552450"/>
          </a:xfrm>
          <a:prstGeom prst="rect">
            <a:avLst/>
          </a:prstGeom>
          <a:solidFill>
            <a:srgbClr val="00ACC7"/>
          </a:solidFill>
          <a:ln w="0">
            <a:noFill/>
          </a:ln>
        </p:spPr>
        <p:txBody>
          <a:bodyPr/>
          <a:lstStyle/>
          <a:p/>
        </p:txBody>
      </p:sp>
      <p:pic>
        <p:nvPicPr>
          <p:cNvPr id="43" name="Picture 42"/>
          <p:cNvPicPr>
            <a:picLocks noChangeAspect="1"/>
          </p:cNvPicPr>
          <p:nvPr/>
        </p:nvPicPr>
        <p:blipFill>
          <a:blip r:embed="rId6"/>
          <a:srcRect/>
          <a:stretch>
            <a:fillRect/>
          </a:stretch>
        </p:blipFill>
        <p:spPr>
          <a:xfrm>
            <a:off x="781050" y="8372475"/>
            <a:ext cx="352425" cy="352425"/>
          </a:xfrm>
          <a:prstGeom prst="rect">
            <a:avLst/>
          </a:prstGeom>
        </p:spPr>
      </p:pic>
      <p:sp>
        <p:nvSpPr>
          <p:cNvPr id="44" name="text-38"/>
          <p:cNvSpPr>
            <a:spLocks noGrp="1"/>
          </p:cNvSpPr>
          <p:nvPr/>
        </p:nvSpPr>
        <p:spPr>
          <a:xfrm>
            <a:off x="1314450" y="8353425"/>
            <a:ext cx="48958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Literature Review</a:t>
            </a:r>
          </a:p>
        </p:txBody>
      </p:sp>
      <p:sp>
        <p:nvSpPr>
          <p:cNvPr id="45" name="text-39"/>
          <p:cNvSpPr>
            <a:spLocks noGrp="1"/>
          </p:cNvSpPr>
          <p:nvPr/>
        </p:nvSpPr>
        <p:spPr>
          <a:xfrm>
            <a:off x="809625" y="9020175"/>
            <a:ext cx="5238750" cy="36195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[1] Bhattacharjee et al. (2022)</a:t>
            </a:r>
          </a:p>
        </p:txBody>
      </p:sp>
      <p:sp>
        <p:nvSpPr>
          <p:cNvPr id="46" name="text-40"/>
          <p:cNvSpPr>
            <a:spLocks noGrp="1"/>
          </p:cNvSpPr>
          <p:nvPr/>
        </p:nvSpPr>
        <p:spPr>
          <a:xfrm>
            <a:off x="809625" y="9401175"/>
            <a:ext cx="5238750" cy="628650"/>
          </a:xfrm>
          <a:prstGeom prst="rect">
            <a:avLst/>
          </a:prstGeom>
          <a:noFill/>
          <a:ln w="0">
            <a:noFill/>
          </a:ln>
        </p:spPr>
        <p:txBody>
          <a:bodyPr wrap="square" lIns="0" tIns="0" rIns="0" bIns="0" anchor="t">
            <a:noAutofit/>
          </a:bodyPr>
          <a:lstStyle/>
          <a:p>
            <a:pPr algn="l"/>
            <a:r>
              <a:rPr sz="2025" b="0">
                <a:solidFill>
                  <a:srgbClr val="17354B"/>
                </a:solidFill>
                <a:latin typeface="Arial"/>
                <a:ea typeface="Arial"/>
                <a:cs typeface="Arial"/>
              </a:rPr>
              <a:t>BanglaBERT, NAACL Findings.</a:t>
            </a:r>
          </a:p>
          <a:p>
            <a:pPr algn="l"/>
            <a:r>
              <a:rPr sz="2025" b="0">
                <a:solidFill>
                  <a:srgbClr val="17354B"/>
                </a:solidFill>
                <a:latin typeface="Arial"/>
                <a:ea typeface="Arial"/>
                <a:cs typeface="Arial"/>
              </a:rPr>
              <a:t>Bengali language representations.</a:t>
            </a:r>
          </a:p>
        </p:txBody>
      </p:sp>
      <p:sp>
        <p:nvSpPr>
          <p:cNvPr id="47" name="text-41"/>
          <p:cNvSpPr>
            <a:spLocks noGrp="1"/>
          </p:cNvSpPr>
          <p:nvPr/>
        </p:nvSpPr>
        <p:spPr>
          <a:xfrm>
            <a:off x="809625" y="10077450"/>
            <a:ext cx="5238750" cy="361950"/>
          </a:xfrm>
          <a:prstGeom prst="rect">
            <a:avLst/>
          </a:prstGeom>
          <a:noFill/>
          <a:ln w="0">
            <a:noFill/>
          </a:ln>
        </p:spPr>
        <p:txBody>
          <a:bodyPr wrap="square" lIns="0" tIns="0" rIns="0" bIns="0" anchor="t">
            <a:noAutofit/>
          </a:bodyPr>
          <a:lstStyle/>
          <a:p>
            <a:pPr algn="l"/>
            <a:r>
              <a:rPr sz="2025" b="1">
                <a:solidFill>
                  <a:srgbClr val="7253B6"/>
                </a:solidFill>
                <a:latin typeface="Arial"/>
                <a:ea typeface="Arial"/>
                <a:cs typeface="Arial"/>
              </a:rPr>
              <a:t>[2] XLM-R · Conneau et al., 2020</a:t>
            </a:r>
          </a:p>
        </p:txBody>
      </p:sp>
      <p:sp>
        <p:nvSpPr>
          <p:cNvPr id="48" name="text-42"/>
          <p:cNvSpPr>
            <a:spLocks noGrp="1"/>
          </p:cNvSpPr>
          <p:nvPr/>
        </p:nvSpPr>
        <p:spPr>
          <a:xfrm>
            <a:off x="809625" y="10458450"/>
            <a:ext cx="5238750" cy="600075"/>
          </a:xfrm>
          <a:prstGeom prst="rect">
            <a:avLst/>
          </a:prstGeom>
          <a:noFill/>
          <a:ln w="0">
            <a:noFill/>
          </a:ln>
        </p:spPr>
        <p:txBody>
          <a:bodyPr wrap="square" lIns="0" tIns="0" rIns="0" bIns="0" anchor="t">
            <a:noAutofit/>
          </a:bodyPr>
          <a:lstStyle/>
          <a:p>
            <a:pPr algn="l"/>
            <a:r>
              <a:rPr sz="2025" b="0">
                <a:solidFill>
                  <a:srgbClr val="17354B"/>
                </a:solidFill>
                <a:latin typeface="Arial"/>
                <a:ea typeface="Arial"/>
                <a:cs typeface="Arial"/>
              </a:rPr>
              <a:t>ACL. Multilingual representation learning.</a:t>
            </a:r>
          </a:p>
        </p:txBody>
      </p:sp>
      <p:sp>
        <p:nvSpPr>
          <p:cNvPr id="49" name="text-43"/>
          <p:cNvSpPr>
            <a:spLocks noGrp="1"/>
          </p:cNvSpPr>
          <p:nvPr/>
        </p:nvSpPr>
        <p:spPr>
          <a:xfrm>
            <a:off x="809625" y="11096625"/>
            <a:ext cx="5238750" cy="36195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[3] BGE-M3 · Chen et al., 2024</a:t>
            </a:r>
          </a:p>
        </p:txBody>
      </p:sp>
      <p:sp>
        <p:nvSpPr>
          <p:cNvPr id="50" name="text-44"/>
          <p:cNvSpPr>
            <a:spLocks noGrp="1"/>
          </p:cNvSpPr>
          <p:nvPr/>
        </p:nvSpPr>
        <p:spPr>
          <a:xfrm>
            <a:off x="809625" y="11477625"/>
            <a:ext cx="5238750" cy="371475"/>
          </a:xfrm>
          <a:prstGeom prst="rect">
            <a:avLst/>
          </a:prstGeom>
          <a:noFill/>
          <a:ln w="0">
            <a:noFill/>
          </a:ln>
        </p:spPr>
        <p:txBody>
          <a:bodyPr wrap="square" lIns="0" tIns="0" rIns="0" bIns="0" anchor="t">
            <a:noAutofit/>
          </a:bodyPr>
          <a:lstStyle/>
          <a:p>
            <a:pPr algn="l"/>
            <a:r>
              <a:rPr sz="2025" b="0">
                <a:solidFill>
                  <a:srgbClr val="17354B"/>
                </a:solidFill>
                <a:latin typeface="Arial"/>
                <a:ea typeface="Arial"/>
                <a:cs typeface="Arial"/>
              </a:rPr>
              <a:t>ACL Findings. Multilingual text embeddings.</a:t>
            </a:r>
          </a:p>
        </p:txBody>
      </p:sp>
      <p:sp>
        <p:nvSpPr>
          <p:cNvPr id="51" name="text-45"/>
          <p:cNvSpPr>
            <a:spLocks noGrp="1"/>
          </p:cNvSpPr>
          <p:nvPr/>
        </p:nvSpPr>
        <p:spPr>
          <a:xfrm>
            <a:off x="809625" y="12020550"/>
            <a:ext cx="5238750" cy="342900"/>
          </a:xfrm>
          <a:prstGeom prst="rect">
            <a:avLst/>
          </a:prstGeom>
          <a:noFill/>
          <a:ln w="0">
            <a:noFill/>
          </a:ln>
        </p:spPr>
        <p:txBody>
          <a:bodyPr wrap="square" lIns="0" tIns="0" rIns="0" bIns="0" anchor="t">
            <a:noAutofit/>
          </a:bodyPr>
          <a:lstStyle/>
          <a:p>
            <a:pPr algn="l"/>
            <a:r>
              <a:rPr sz="1950" b="1">
                <a:solidFill>
                  <a:srgbClr val="071F36"/>
                </a:solidFill>
                <a:latin typeface="Arial"/>
                <a:ea typeface="Arial"/>
                <a:cs typeface="Arial"/>
              </a:rPr>
              <a:t>Training positives (%) · labels overlap</a:t>
            </a:r>
          </a:p>
        </p:txBody>
      </p:sp>
      <p:graphicFrame>
        <p:nvGraphicFramePr>
          <p:cNvPr id="52" name="Chart"/>
          <p:cNvGraphicFramePr/>
          <p:nvPr/>
        </p:nvGraphicFramePr>
        <p:xfrm>
          <a:off x="809625" y="12363450"/>
          <a:ext cx="5286375" cy="1924050"/>
        </p:xfrm>
        <a:graphic>
          <a:graphicData uri="http://schemas.openxmlformats.org/drawingml/2006/chart">
            <c:chart xmlns:c="http://schemas.openxmlformats.org/drawingml/2006/chart" xmlns:r="http://schemas.openxmlformats.org/officeDocument/2006/relationships" r:id="rId7"/>
          </a:graphicData>
        </a:graphic>
      </p:graphicFrame>
      <p:sp>
        <p:nvSpPr>
          <p:cNvPr id="53" name="shape-46"/>
          <p:cNvSpPr>
            <a:spLocks noGrp="1"/>
          </p:cNvSpPr>
          <p:nvPr/>
        </p:nvSpPr>
        <p:spPr>
          <a:xfrm>
            <a:off x="6610350" y="8267700"/>
            <a:ext cx="14202150" cy="6019800"/>
          </a:xfrm>
          <a:prstGeom prst="rect">
            <a:avLst/>
          </a:prstGeom>
          <a:solidFill>
            <a:srgbClr val="FFFFFF"/>
          </a:solidFill>
          <a:ln w="14288">
            <a:solidFill>
              <a:srgbClr val="B6D7E1"/>
            </a:solidFill>
          </a:ln>
        </p:spPr>
        <p:txBody>
          <a:bodyPr/>
          <a:lstStyle/>
          <a:p/>
        </p:txBody>
      </p:sp>
      <p:sp>
        <p:nvSpPr>
          <p:cNvPr id="54" name="shape-47"/>
          <p:cNvSpPr>
            <a:spLocks noGrp="1"/>
          </p:cNvSpPr>
          <p:nvPr/>
        </p:nvSpPr>
        <p:spPr>
          <a:xfrm>
            <a:off x="6610350" y="8267700"/>
            <a:ext cx="14202150" cy="552450"/>
          </a:xfrm>
          <a:prstGeom prst="rect">
            <a:avLst/>
          </a:prstGeom>
          <a:solidFill>
            <a:srgbClr val="071F36"/>
          </a:solidFill>
          <a:ln w="0">
            <a:noFill/>
          </a:ln>
        </p:spPr>
        <p:txBody>
          <a:bodyPr/>
          <a:lstStyle/>
          <a:p/>
        </p:txBody>
      </p:sp>
      <p:sp>
        <p:nvSpPr>
          <p:cNvPr id="55" name="shape-48"/>
          <p:cNvSpPr>
            <a:spLocks noGrp="1"/>
          </p:cNvSpPr>
          <p:nvPr/>
        </p:nvSpPr>
        <p:spPr>
          <a:xfrm>
            <a:off x="6610350" y="8267700"/>
            <a:ext cx="66675" cy="552450"/>
          </a:xfrm>
          <a:prstGeom prst="rect">
            <a:avLst/>
          </a:prstGeom>
          <a:solidFill>
            <a:srgbClr val="00ACC7"/>
          </a:solidFill>
          <a:ln w="0">
            <a:noFill/>
          </a:ln>
        </p:spPr>
        <p:txBody>
          <a:bodyPr/>
          <a:lstStyle/>
          <a:p/>
        </p:txBody>
      </p:sp>
      <p:pic>
        <p:nvPicPr>
          <p:cNvPr id="56" name="Picture 55"/>
          <p:cNvPicPr>
            <a:picLocks noChangeAspect="1"/>
          </p:cNvPicPr>
          <p:nvPr/>
        </p:nvPicPr>
        <p:blipFill>
          <a:blip r:embed="rId8"/>
          <a:srcRect/>
          <a:stretch>
            <a:fillRect/>
          </a:stretch>
        </p:blipFill>
        <p:spPr>
          <a:xfrm>
            <a:off x="6819900" y="8372475"/>
            <a:ext cx="352425" cy="352425"/>
          </a:xfrm>
          <a:prstGeom prst="rect">
            <a:avLst/>
          </a:prstGeom>
        </p:spPr>
      </p:pic>
      <p:sp>
        <p:nvSpPr>
          <p:cNvPr id="57" name="text-49"/>
          <p:cNvSpPr>
            <a:spLocks noGrp="1"/>
          </p:cNvSpPr>
          <p:nvPr/>
        </p:nvSpPr>
        <p:spPr>
          <a:xfrm>
            <a:off x="7353300" y="8353425"/>
            <a:ext cx="13287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Methodology</a:t>
            </a:r>
          </a:p>
        </p:txBody>
      </p:sp>
      <p:sp>
        <p:nvSpPr>
          <p:cNvPr id="58" name="text-50"/>
          <p:cNvSpPr>
            <a:spLocks noGrp="1"/>
          </p:cNvSpPr>
          <p:nvPr/>
        </p:nvSpPr>
        <p:spPr>
          <a:xfrm>
            <a:off x="6867525" y="8953500"/>
            <a:ext cx="13687800" cy="400050"/>
          </a:xfrm>
          <a:prstGeom prst="rect">
            <a:avLst/>
          </a:prstGeom>
          <a:noFill/>
          <a:ln w="0">
            <a:noFill/>
          </a:ln>
        </p:spPr>
        <p:txBody>
          <a:bodyPr wrap="square" lIns="0" tIns="0" rIns="0" bIns="0" anchor="t">
            <a:noAutofit/>
          </a:bodyPr>
          <a:lstStyle/>
          <a:p>
            <a:pPr algn="l"/>
            <a:r>
              <a:rPr sz="2325" b="1">
                <a:solidFill>
                  <a:srgbClr val="071F36"/>
                </a:solidFill>
                <a:latin typeface="Arial"/>
                <a:ea typeface="Arial"/>
                <a:cs typeface="Arial"/>
              </a:rPr>
              <a:t>5.1 Overall Workflow</a:t>
            </a:r>
          </a:p>
        </p:txBody>
      </p:sp>
      <p:pic>
        <p:nvPicPr>
          <p:cNvPr id="59" name="Picture 58"/>
          <p:cNvPicPr>
            <a:picLocks noChangeAspect="1"/>
          </p:cNvPicPr>
          <p:nvPr/>
        </p:nvPicPr>
        <p:blipFill>
          <a:blip r:embed="rId9"/>
          <a:srcRect/>
          <a:stretch>
            <a:fillRect/>
          </a:stretch>
        </p:blipFill>
        <p:spPr>
          <a:xfrm>
            <a:off x="7219950" y="9696450"/>
            <a:ext cx="1466850" cy="1466850"/>
          </a:xfrm>
          <a:prstGeom prst="rect">
            <a:avLst/>
          </a:prstGeom>
        </p:spPr>
      </p:pic>
      <p:pic>
        <p:nvPicPr>
          <p:cNvPr id="60" name="Picture 59"/>
          <p:cNvPicPr>
            <a:picLocks noChangeAspect="1"/>
          </p:cNvPicPr>
          <p:nvPr/>
        </p:nvPicPr>
        <p:blipFill>
          <a:blip r:embed="rId10"/>
          <a:srcRect/>
          <a:stretch>
            <a:fillRect/>
          </a:stretch>
        </p:blipFill>
        <p:spPr>
          <a:xfrm>
            <a:off x="9517125" y="9696450"/>
            <a:ext cx="1466850" cy="1466850"/>
          </a:xfrm>
          <a:prstGeom prst="rect">
            <a:avLst/>
          </a:prstGeom>
        </p:spPr>
      </p:pic>
      <p:pic>
        <p:nvPicPr>
          <p:cNvPr id="61" name="Picture 60"/>
          <p:cNvPicPr>
            <a:picLocks noChangeAspect="1"/>
          </p:cNvPicPr>
          <p:nvPr/>
        </p:nvPicPr>
        <p:blipFill>
          <a:blip r:embed="rId11"/>
          <a:srcRect/>
          <a:stretch>
            <a:fillRect/>
          </a:stretch>
        </p:blipFill>
        <p:spPr>
          <a:xfrm>
            <a:off x="11814300" y="9696450"/>
            <a:ext cx="1466850" cy="1466850"/>
          </a:xfrm>
          <a:prstGeom prst="rect">
            <a:avLst/>
          </a:prstGeom>
        </p:spPr>
      </p:pic>
      <p:pic>
        <p:nvPicPr>
          <p:cNvPr id="62" name="Picture 61"/>
          <p:cNvPicPr>
            <a:picLocks noChangeAspect="1"/>
          </p:cNvPicPr>
          <p:nvPr/>
        </p:nvPicPr>
        <p:blipFill>
          <a:blip r:embed="rId12"/>
          <a:srcRect/>
          <a:stretch>
            <a:fillRect/>
          </a:stretch>
        </p:blipFill>
        <p:spPr>
          <a:xfrm>
            <a:off x="14111475" y="9696450"/>
            <a:ext cx="1466850" cy="1466850"/>
          </a:xfrm>
          <a:prstGeom prst="rect">
            <a:avLst/>
          </a:prstGeom>
        </p:spPr>
      </p:pic>
      <p:pic>
        <p:nvPicPr>
          <p:cNvPr id="63" name="Picture 62"/>
          <p:cNvPicPr>
            <a:picLocks noChangeAspect="1"/>
          </p:cNvPicPr>
          <p:nvPr/>
        </p:nvPicPr>
        <p:blipFill>
          <a:blip r:embed="rId13"/>
          <a:srcRect/>
          <a:stretch>
            <a:fillRect/>
          </a:stretch>
        </p:blipFill>
        <p:spPr>
          <a:xfrm>
            <a:off x="16408650" y="9696450"/>
            <a:ext cx="1466850" cy="1466850"/>
          </a:xfrm>
          <a:prstGeom prst="rect">
            <a:avLst/>
          </a:prstGeom>
        </p:spPr>
      </p:pic>
      <p:pic>
        <p:nvPicPr>
          <p:cNvPr id="64" name="Picture 63"/>
          <p:cNvPicPr>
            <a:picLocks noChangeAspect="1"/>
          </p:cNvPicPr>
          <p:nvPr/>
        </p:nvPicPr>
        <p:blipFill>
          <a:blip r:embed="rId14"/>
          <a:srcRect/>
          <a:stretch>
            <a:fillRect/>
          </a:stretch>
        </p:blipFill>
        <p:spPr>
          <a:xfrm>
            <a:off x="18705825" y="9696450"/>
            <a:ext cx="1466850" cy="1466850"/>
          </a:xfrm>
          <a:prstGeom prst="rect">
            <a:avLst/>
          </a:prstGeom>
        </p:spPr>
      </p:pic>
      <p:sp>
        <p:nvSpPr>
          <p:cNvPr id="65" name="text-51"/>
          <p:cNvSpPr>
            <a:spLocks noGrp="1"/>
          </p:cNvSpPr>
          <p:nvPr/>
        </p:nvSpPr>
        <p:spPr>
          <a:xfrm>
            <a:off x="6819900" y="11620500"/>
            <a:ext cx="2297175" cy="409575"/>
          </a:xfrm>
          <a:prstGeom prst="rect">
            <a:avLst/>
          </a:prstGeom>
          <a:noFill/>
          <a:ln w="0">
            <a:noFill/>
          </a:ln>
        </p:spPr>
        <p:txBody>
          <a:bodyPr wrap="square" lIns="0" tIns="0" rIns="0" bIns="0" anchor="t">
            <a:noAutofit/>
          </a:bodyPr>
          <a:lstStyle/>
          <a:p>
            <a:pPr algn="ctr"/>
            <a:r>
              <a:rPr sz="2100" b="1">
                <a:solidFill>
                  <a:srgbClr val="071F36"/>
                </a:solidFill>
                <a:latin typeface="Arial"/>
                <a:ea typeface="Arial"/>
                <a:cs typeface="Arial"/>
              </a:rPr>
              <a:t>Dataset</a:t>
            </a:r>
          </a:p>
        </p:txBody>
      </p:sp>
      <p:sp>
        <p:nvSpPr>
          <p:cNvPr id="66" name="Line 65"/>
          <p:cNvSpPr>
            <a:spLocks noGrp="1"/>
          </p:cNvSpPr>
          <p:nvPr/>
        </p:nvSpPr>
        <p:spPr>
          <a:xfrm>
            <a:off x="8869425" y="11572875"/>
            <a:ext cx="123825" cy="0"/>
          </a:xfrm>
          <a:prstGeom prst="line">
            <a:avLst/>
          </a:prstGeom>
          <a:noFill/>
          <a:ln w="28575">
            <a:solidFill>
              <a:srgbClr val="00ACC7"/>
            </a:solidFill>
          </a:ln>
        </p:spPr>
        <p:txBody>
          <a:bodyPr/>
          <a:lstStyle/>
          <a:p/>
        </p:txBody>
      </p:sp>
      <p:sp>
        <p:nvSpPr>
          <p:cNvPr id="67" name="Right Arrow 66"/>
          <p:cNvSpPr>
            <a:spLocks noGrp="1"/>
          </p:cNvSpPr>
          <p:nvPr/>
        </p:nvSpPr>
        <p:spPr>
          <a:xfrm>
            <a:off x="8955150" y="11506200"/>
            <a:ext cx="171450" cy="133350"/>
          </a:xfrm>
          <a:prstGeom prst="rightArrow">
            <a:avLst/>
          </a:prstGeom>
          <a:solidFill>
            <a:srgbClr val="00ACC7"/>
          </a:solidFill>
          <a:ln w="0">
            <a:noFill/>
          </a:ln>
        </p:spPr>
        <p:txBody>
          <a:bodyPr/>
          <a:lstStyle/>
          <a:p/>
        </p:txBody>
      </p:sp>
      <p:sp>
        <p:nvSpPr>
          <p:cNvPr id="68" name="text-52"/>
          <p:cNvSpPr>
            <a:spLocks noGrp="1"/>
          </p:cNvSpPr>
          <p:nvPr/>
        </p:nvSpPr>
        <p:spPr>
          <a:xfrm>
            <a:off x="9117075" y="11620500"/>
            <a:ext cx="2297175" cy="409575"/>
          </a:xfrm>
          <a:prstGeom prst="rect">
            <a:avLst/>
          </a:prstGeom>
          <a:noFill/>
          <a:ln w="0">
            <a:noFill/>
          </a:ln>
        </p:spPr>
        <p:txBody>
          <a:bodyPr wrap="square" lIns="0" tIns="0" rIns="0" bIns="0" anchor="t">
            <a:noAutofit/>
          </a:bodyPr>
          <a:lstStyle/>
          <a:p>
            <a:pPr algn="ctr"/>
            <a:r>
              <a:rPr sz="2100" b="1">
                <a:solidFill>
                  <a:srgbClr val="071F36"/>
                </a:solidFill>
                <a:latin typeface="Arial"/>
                <a:ea typeface="Arial"/>
                <a:cs typeface="Arial"/>
              </a:rPr>
              <a:t>Preprocess</a:t>
            </a:r>
          </a:p>
        </p:txBody>
      </p:sp>
      <p:sp>
        <p:nvSpPr>
          <p:cNvPr id="69" name="Line 68"/>
          <p:cNvSpPr>
            <a:spLocks noGrp="1"/>
          </p:cNvSpPr>
          <p:nvPr/>
        </p:nvSpPr>
        <p:spPr>
          <a:xfrm>
            <a:off x="11166600" y="11572875"/>
            <a:ext cx="123825" cy="0"/>
          </a:xfrm>
          <a:prstGeom prst="line">
            <a:avLst/>
          </a:prstGeom>
          <a:noFill/>
          <a:ln w="28575">
            <a:solidFill>
              <a:srgbClr val="00ACC7"/>
            </a:solidFill>
          </a:ln>
        </p:spPr>
        <p:txBody>
          <a:bodyPr/>
          <a:lstStyle/>
          <a:p/>
        </p:txBody>
      </p:sp>
      <p:sp>
        <p:nvSpPr>
          <p:cNvPr id="70" name="Right Arrow 69"/>
          <p:cNvSpPr>
            <a:spLocks noGrp="1"/>
          </p:cNvSpPr>
          <p:nvPr/>
        </p:nvSpPr>
        <p:spPr>
          <a:xfrm>
            <a:off x="11252325" y="11506200"/>
            <a:ext cx="171450" cy="133350"/>
          </a:xfrm>
          <a:prstGeom prst="rightArrow">
            <a:avLst/>
          </a:prstGeom>
          <a:solidFill>
            <a:srgbClr val="00ACC7"/>
          </a:solidFill>
          <a:ln w="0">
            <a:noFill/>
          </a:ln>
        </p:spPr>
        <p:txBody>
          <a:bodyPr/>
          <a:lstStyle/>
          <a:p/>
        </p:txBody>
      </p:sp>
      <p:sp>
        <p:nvSpPr>
          <p:cNvPr id="71" name="text-53"/>
          <p:cNvSpPr>
            <a:spLocks noGrp="1"/>
          </p:cNvSpPr>
          <p:nvPr/>
        </p:nvSpPr>
        <p:spPr>
          <a:xfrm>
            <a:off x="11414250" y="11620500"/>
            <a:ext cx="2297175" cy="409575"/>
          </a:xfrm>
          <a:prstGeom prst="rect">
            <a:avLst/>
          </a:prstGeom>
          <a:noFill/>
          <a:ln w="0">
            <a:noFill/>
          </a:ln>
        </p:spPr>
        <p:txBody>
          <a:bodyPr wrap="square" lIns="0" tIns="0" rIns="0" bIns="0" anchor="t">
            <a:noAutofit/>
          </a:bodyPr>
          <a:lstStyle/>
          <a:p>
            <a:pPr algn="ctr"/>
            <a:r>
              <a:rPr sz="2100" b="1">
                <a:solidFill>
                  <a:srgbClr val="071F36"/>
                </a:solidFill>
                <a:latin typeface="Arial"/>
                <a:ea typeface="Arial"/>
                <a:cs typeface="Arial"/>
              </a:rPr>
              <a:t>Model signals</a:t>
            </a:r>
          </a:p>
        </p:txBody>
      </p:sp>
      <p:sp>
        <p:nvSpPr>
          <p:cNvPr id="72" name="Line 71"/>
          <p:cNvSpPr>
            <a:spLocks noGrp="1"/>
          </p:cNvSpPr>
          <p:nvPr/>
        </p:nvSpPr>
        <p:spPr>
          <a:xfrm>
            <a:off x="13463775" y="11572875"/>
            <a:ext cx="123825" cy="0"/>
          </a:xfrm>
          <a:prstGeom prst="line">
            <a:avLst/>
          </a:prstGeom>
          <a:noFill/>
          <a:ln w="28575">
            <a:solidFill>
              <a:srgbClr val="00ACC7"/>
            </a:solidFill>
          </a:ln>
        </p:spPr>
        <p:txBody>
          <a:bodyPr/>
          <a:lstStyle/>
          <a:p/>
        </p:txBody>
      </p:sp>
      <p:sp>
        <p:nvSpPr>
          <p:cNvPr id="73" name="Right Arrow 72"/>
          <p:cNvSpPr>
            <a:spLocks noGrp="1"/>
          </p:cNvSpPr>
          <p:nvPr/>
        </p:nvSpPr>
        <p:spPr>
          <a:xfrm>
            <a:off x="13549500" y="11506200"/>
            <a:ext cx="171450" cy="133350"/>
          </a:xfrm>
          <a:prstGeom prst="rightArrow">
            <a:avLst/>
          </a:prstGeom>
          <a:solidFill>
            <a:srgbClr val="00ACC7"/>
          </a:solidFill>
          <a:ln w="0">
            <a:noFill/>
          </a:ln>
        </p:spPr>
        <p:txBody>
          <a:bodyPr/>
          <a:lstStyle/>
          <a:p/>
        </p:txBody>
      </p:sp>
      <p:sp>
        <p:nvSpPr>
          <p:cNvPr id="74" name="text-54"/>
          <p:cNvSpPr>
            <a:spLocks noGrp="1"/>
          </p:cNvSpPr>
          <p:nvPr/>
        </p:nvSpPr>
        <p:spPr>
          <a:xfrm>
            <a:off x="13711425" y="11620500"/>
            <a:ext cx="2297175" cy="409575"/>
          </a:xfrm>
          <a:prstGeom prst="rect">
            <a:avLst/>
          </a:prstGeom>
          <a:noFill/>
          <a:ln w="0">
            <a:noFill/>
          </a:ln>
        </p:spPr>
        <p:txBody>
          <a:bodyPr wrap="square" lIns="0" tIns="0" rIns="0" bIns="0" anchor="t">
            <a:noAutofit/>
          </a:bodyPr>
          <a:lstStyle/>
          <a:p>
            <a:pPr algn="ctr"/>
            <a:r>
              <a:rPr sz="2100" b="1">
                <a:solidFill>
                  <a:srgbClr val="071F36"/>
                </a:solidFill>
                <a:latin typeface="Arial"/>
                <a:ea typeface="Arial"/>
                <a:cs typeface="Arial"/>
              </a:rPr>
              <a:t>Label fusion</a:t>
            </a:r>
          </a:p>
        </p:txBody>
      </p:sp>
      <p:sp>
        <p:nvSpPr>
          <p:cNvPr id="75" name="Line 74"/>
          <p:cNvSpPr>
            <a:spLocks noGrp="1"/>
          </p:cNvSpPr>
          <p:nvPr/>
        </p:nvSpPr>
        <p:spPr>
          <a:xfrm>
            <a:off x="15760950" y="11572875"/>
            <a:ext cx="123825" cy="0"/>
          </a:xfrm>
          <a:prstGeom prst="line">
            <a:avLst/>
          </a:prstGeom>
          <a:noFill/>
          <a:ln w="28575">
            <a:solidFill>
              <a:srgbClr val="00ACC7"/>
            </a:solidFill>
          </a:ln>
        </p:spPr>
        <p:txBody>
          <a:bodyPr/>
          <a:lstStyle/>
          <a:p/>
        </p:txBody>
      </p:sp>
      <p:sp>
        <p:nvSpPr>
          <p:cNvPr id="76" name="Right Arrow 75"/>
          <p:cNvSpPr>
            <a:spLocks noGrp="1"/>
          </p:cNvSpPr>
          <p:nvPr/>
        </p:nvSpPr>
        <p:spPr>
          <a:xfrm>
            <a:off x="15846675" y="11506200"/>
            <a:ext cx="171450" cy="133350"/>
          </a:xfrm>
          <a:prstGeom prst="rightArrow">
            <a:avLst/>
          </a:prstGeom>
          <a:solidFill>
            <a:srgbClr val="00ACC7"/>
          </a:solidFill>
          <a:ln w="0">
            <a:noFill/>
          </a:ln>
        </p:spPr>
        <p:txBody>
          <a:bodyPr/>
          <a:lstStyle/>
          <a:p/>
        </p:txBody>
      </p:sp>
      <p:sp>
        <p:nvSpPr>
          <p:cNvPr id="77" name="text-55"/>
          <p:cNvSpPr>
            <a:spLocks noGrp="1"/>
          </p:cNvSpPr>
          <p:nvPr/>
        </p:nvSpPr>
        <p:spPr>
          <a:xfrm>
            <a:off x="16008600" y="11620500"/>
            <a:ext cx="2297175" cy="409575"/>
          </a:xfrm>
          <a:prstGeom prst="rect">
            <a:avLst/>
          </a:prstGeom>
          <a:noFill/>
          <a:ln w="0">
            <a:noFill/>
          </a:ln>
        </p:spPr>
        <p:txBody>
          <a:bodyPr wrap="square" lIns="0" tIns="0" rIns="0" bIns="0" anchor="t">
            <a:noAutofit/>
          </a:bodyPr>
          <a:lstStyle/>
          <a:p>
            <a:pPr algn="ctr"/>
            <a:r>
              <a:rPr sz="2100" b="1">
                <a:solidFill>
                  <a:srgbClr val="071F36"/>
                </a:solidFill>
                <a:latin typeface="Arial"/>
                <a:ea typeface="Arial"/>
                <a:cs typeface="Arial"/>
              </a:rPr>
              <a:t>Validation</a:t>
            </a:r>
          </a:p>
        </p:txBody>
      </p:sp>
      <p:sp>
        <p:nvSpPr>
          <p:cNvPr id="78" name="Line 77"/>
          <p:cNvSpPr>
            <a:spLocks noGrp="1"/>
          </p:cNvSpPr>
          <p:nvPr/>
        </p:nvSpPr>
        <p:spPr>
          <a:xfrm>
            <a:off x="18058125" y="11572875"/>
            <a:ext cx="123825" cy="0"/>
          </a:xfrm>
          <a:prstGeom prst="line">
            <a:avLst/>
          </a:prstGeom>
          <a:noFill/>
          <a:ln w="28575">
            <a:solidFill>
              <a:srgbClr val="00ACC7"/>
            </a:solidFill>
          </a:ln>
        </p:spPr>
        <p:txBody>
          <a:bodyPr/>
          <a:lstStyle/>
          <a:p/>
        </p:txBody>
      </p:sp>
      <p:sp>
        <p:nvSpPr>
          <p:cNvPr id="79" name="Right Arrow 78"/>
          <p:cNvSpPr>
            <a:spLocks noGrp="1"/>
          </p:cNvSpPr>
          <p:nvPr/>
        </p:nvSpPr>
        <p:spPr>
          <a:xfrm>
            <a:off x="18143850" y="11506200"/>
            <a:ext cx="171450" cy="133350"/>
          </a:xfrm>
          <a:prstGeom prst="rightArrow">
            <a:avLst/>
          </a:prstGeom>
          <a:solidFill>
            <a:srgbClr val="00ACC7"/>
          </a:solidFill>
          <a:ln w="0">
            <a:noFill/>
          </a:ln>
        </p:spPr>
        <p:txBody>
          <a:bodyPr/>
          <a:lstStyle/>
          <a:p/>
        </p:txBody>
      </p:sp>
      <p:sp>
        <p:nvSpPr>
          <p:cNvPr id="80" name="text-56"/>
          <p:cNvSpPr>
            <a:spLocks noGrp="1"/>
          </p:cNvSpPr>
          <p:nvPr/>
        </p:nvSpPr>
        <p:spPr>
          <a:xfrm>
            <a:off x="18305775" y="11620500"/>
            <a:ext cx="2297175" cy="409575"/>
          </a:xfrm>
          <a:prstGeom prst="rect">
            <a:avLst/>
          </a:prstGeom>
          <a:noFill/>
          <a:ln w="0">
            <a:noFill/>
          </a:ln>
        </p:spPr>
        <p:txBody>
          <a:bodyPr wrap="square" lIns="0" tIns="0" rIns="0" bIns="0" anchor="t">
            <a:noAutofit/>
          </a:bodyPr>
          <a:lstStyle/>
          <a:p>
            <a:pPr algn="ctr"/>
            <a:r>
              <a:rPr sz="2100" b="1">
                <a:solidFill>
                  <a:srgbClr val="071F36"/>
                </a:solidFill>
                <a:latin typeface="Arial"/>
                <a:ea typeface="Arial"/>
                <a:cs typeface="Arial"/>
              </a:rPr>
              <a:t>Submission</a:t>
            </a:r>
          </a:p>
        </p:txBody>
      </p:sp>
      <p:sp>
        <p:nvSpPr>
          <p:cNvPr id="81" name="text-57"/>
          <p:cNvSpPr>
            <a:spLocks noGrp="1"/>
          </p:cNvSpPr>
          <p:nvPr/>
        </p:nvSpPr>
        <p:spPr>
          <a:xfrm>
            <a:off x="6819900" y="12087225"/>
            <a:ext cx="2297175" cy="609600"/>
          </a:xfrm>
          <a:prstGeom prst="rect">
            <a:avLst/>
          </a:prstGeom>
          <a:noFill/>
          <a:ln w="0">
            <a:noFill/>
          </a:ln>
        </p:spPr>
        <p:txBody>
          <a:bodyPr wrap="square" lIns="0" tIns="0" rIns="0" bIns="0" anchor="t">
            <a:noAutofit/>
          </a:bodyPr>
          <a:lstStyle/>
          <a:p>
            <a:pPr algn="ctr"/>
            <a:r>
              <a:rPr sz="1950" b="0">
                <a:solidFill>
                  <a:srgbClr val="486174"/>
                </a:solidFill>
                <a:latin typeface="Arial"/>
                <a:ea typeface="Arial"/>
                <a:cs typeface="Arial"/>
              </a:rPr>
              <a:t>Bengali +</a:t>
            </a:r>
          </a:p>
          <a:p>
            <a:pPr algn="ctr"/>
            <a:r>
              <a:rPr sz="1950" b="0">
                <a:solidFill>
                  <a:srgbClr val="486174"/>
                </a:solidFill>
                <a:latin typeface="Arial"/>
                <a:ea typeface="Arial"/>
                <a:cs typeface="Arial"/>
              </a:rPr>
              <a:t>Banglish</a:t>
            </a:r>
          </a:p>
        </p:txBody>
      </p:sp>
      <p:sp>
        <p:nvSpPr>
          <p:cNvPr id="82" name="text-58"/>
          <p:cNvSpPr>
            <a:spLocks noGrp="1"/>
          </p:cNvSpPr>
          <p:nvPr/>
        </p:nvSpPr>
        <p:spPr>
          <a:xfrm>
            <a:off x="9117075" y="12087225"/>
            <a:ext cx="2297175" cy="609600"/>
          </a:xfrm>
          <a:prstGeom prst="rect">
            <a:avLst/>
          </a:prstGeom>
          <a:noFill/>
          <a:ln w="0">
            <a:noFill/>
          </a:ln>
        </p:spPr>
        <p:txBody>
          <a:bodyPr wrap="square" lIns="0" tIns="0" rIns="0" bIns="0" anchor="t">
            <a:noAutofit/>
          </a:bodyPr>
          <a:lstStyle/>
          <a:p>
            <a:pPr algn="ctr"/>
            <a:r>
              <a:rPr sz="1950" b="0">
                <a:solidFill>
                  <a:srgbClr val="486174"/>
                </a:solidFill>
                <a:latin typeface="Arial"/>
                <a:ea typeface="Arial"/>
                <a:cs typeface="Arial"/>
              </a:rPr>
              <a:t>Tokenize +</a:t>
            </a:r>
          </a:p>
          <a:p>
            <a:pPr algn="ctr"/>
            <a:r>
              <a:rPr sz="1950" b="0">
                <a:solidFill>
                  <a:srgbClr val="486174"/>
                </a:solidFill>
                <a:latin typeface="Arial"/>
                <a:ea typeface="Arial"/>
                <a:cs typeface="Arial"/>
              </a:rPr>
              <a:t>TF-IDF</a:t>
            </a:r>
          </a:p>
        </p:txBody>
      </p:sp>
      <p:sp>
        <p:nvSpPr>
          <p:cNvPr id="83" name="text-59"/>
          <p:cNvSpPr>
            <a:spLocks noGrp="1"/>
          </p:cNvSpPr>
          <p:nvPr/>
        </p:nvSpPr>
        <p:spPr>
          <a:xfrm>
            <a:off x="11414250" y="12087225"/>
            <a:ext cx="2297175" cy="609600"/>
          </a:xfrm>
          <a:prstGeom prst="rect">
            <a:avLst/>
          </a:prstGeom>
          <a:noFill/>
          <a:ln w="0">
            <a:noFill/>
          </a:ln>
        </p:spPr>
        <p:txBody>
          <a:bodyPr wrap="square" lIns="0" tIns="0" rIns="0" bIns="0" anchor="t">
            <a:noAutofit/>
          </a:bodyPr>
          <a:lstStyle/>
          <a:p>
            <a:pPr algn="ctr"/>
            <a:r>
              <a:rPr sz="1950" b="0">
                <a:solidFill>
                  <a:srgbClr val="486174"/>
                </a:solidFill>
                <a:latin typeface="Arial"/>
                <a:ea typeface="Arial"/>
                <a:cs typeface="Arial"/>
              </a:rPr>
              <a:t>Encoders +</a:t>
            </a:r>
          </a:p>
          <a:p>
            <a:pPr algn="ctr"/>
            <a:r>
              <a:rPr sz="1950" b="0">
                <a:solidFill>
                  <a:srgbClr val="486174"/>
                </a:solidFill>
                <a:latin typeface="Arial"/>
                <a:ea typeface="Arial"/>
                <a:cs typeface="Arial"/>
              </a:rPr>
              <a:t>classifiers</a:t>
            </a:r>
          </a:p>
        </p:txBody>
      </p:sp>
      <p:sp>
        <p:nvSpPr>
          <p:cNvPr id="84" name="text-60"/>
          <p:cNvSpPr>
            <a:spLocks noGrp="1"/>
          </p:cNvSpPr>
          <p:nvPr/>
        </p:nvSpPr>
        <p:spPr>
          <a:xfrm>
            <a:off x="13711425" y="12087225"/>
            <a:ext cx="2297175" cy="609600"/>
          </a:xfrm>
          <a:prstGeom prst="rect">
            <a:avLst/>
          </a:prstGeom>
          <a:noFill/>
          <a:ln w="0">
            <a:noFill/>
          </a:ln>
        </p:spPr>
        <p:txBody>
          <a:bodyPr wrap="square" lIns="0" tIns="0" rIns="0" bIns="0" anchor="t">
            <a:noAutofit/>
          </a:bodyPr>
          <a:lstStyle/>
          <a:p>
            <a:pPr algn="ctr"/>
            <a:r>
              <a:rPr sz="1950" b="0">
                <a:solidFill>
                  <a:srgbClr val="486174"/>
                </a:solidFill>
                <a:latin typeface="Arial"/>
                <a:ea typeface="Arial"/>
                <a:cs typeface="Arial"/>
              </a:rPr>
              <a:t>Per-label</a:t>
            </a:r>
          </a:p>
          <a:p>
            <a:pPr algn="ctr"/>
            <a:r>
              <a:rPr sz="1950" b="0">
                <a:solidFill>
                  <a:srgbClr val="486174"/>
                </a:solidFill>
                <a:latin typeface="Arial"/>
                <a:ea typeface="Arial"/>
                <a:cs typeface="Arial"/>
              </a:rPr>
              <a:t>rules</a:t>
            </a:r>
          </a:p>
        </p:txBody>
      </p:sp>
      <p:sp>
        <p:nvSpPr>
          <p:cNvPr id="85" name="text-61"/>
          <p:cNvSpPr>
            <a:spLocks noGrp="1"/>
          </p:cNvSpPr>
          <p:nvPr/>
        </p:nvSpPr>
        <p:spPr>
          <a:xfrm>
            <a:off x="16008600" y="12087225"/>
            <a:ext cx="2297175" cy="609600"/>
          </a:xfrm>
          <a:prstGeom prst="rect">
            <a:avLst/>
          </a:prstGeom>
          <a:noFill/>
          <a:ln w="0">
            <a:noFill/>
          </a:ln>
        </p:spPr>
        <p:txBody>
          <a:bodyPr wrap="square" lIns="0" tIns="0" rIns="0" bIns="0" anchor="t">
            <a:noAutofit/>
          </a:bodyPr>
          <a:lstStyle/>
          <a:p>
            <a:pPr algn="ctr"/>
            <a:r>
              <a:rPr sz="1950" b="0">
                <a:solidFill>
                  <a:srgbClr val="486174"/>
                </a:solidFill>
                <a:latin typeface="Arial"/>
                <a:ea typeface="Arial"/>
                <a:cs typeface="Arial"/>
              </a:rPr>
              <a:t>ID alignment +</a:t>
            </a:r>
          </a:p>
          <a:p>
            <a:pPr algn="ctr"/>
            <a:r>
              <a:rPr sz="1950" b="0">
                <a:solidFill>
                  <a:srgbClr val="486174"/>
                </a:solidFill>
                <a:latin typeface="Arial"/>
                <a:ea typeface="Arial"/>
                <a:cs typeface="Arial"/>
              </a:rPr>
              <a:t>fold audit</a:t>
            </a:r>
          </a:p>
        </p:txBody>
      </p:sp>
      <p:sp>
        <p:nvSpPr>
          <p:cNvPr id="86" name="text-62"/>
          <p:cNvSpPr>
            <a:spLocks noGrp="1"/>
          </p:cNvSpPr>
          <p:nvPr/>
        </p:nvSpPr>
        <p:spPr>
          <a:xfrm>
            <a:off x="18305775" y="12087225"/>
            <a:ext cx="2297175" cy="609600"/>
          </a:xfrm>
          <a:prstGeom prst="rect">
            <a:avLst/>
          </a:prstGeom>
          <a:noFill/>
          <a:ln w="0">
            <a:noFill/>
          </a:ln>
        </p:spPr>
        <p:txBody>
          <a:bodyPr wrap="square" lIns="0" tIns="0" rIns="0" bIns="0" anchor="t">
            <a:noAutofit/>
          </a:bodyPr>
          <a:lstStyle/>
          <a:p>
            <a:pPr algn="ctr"/>
            <a:r>
              <a:rPr sz="1950" b="0">
                <a:solidFill>
                  <a:srgbClr val="486174"/>
                </a:solidFill>
                <a:latin typeface="Arial"/>
                <a:ea typeface="Arial"/>
                <a:cs typeface="Arial"/>
              </a:rPr>
              <a:t>1,000 rows ×</a:t>
            </a:r>
          </a:p>
          <a:p>
            <a:pPr algn="ctr"/>
            <a:r>
              <a:rPr sz="1950" b="0">
                <a:solidFill>
                  <a:srgbClr val="486174"/>
                </a:solidFill>
                <a:latin typeface="Arial"/>
                <a:ea typeface="Arial"/>
                <a:cs typeface="Arial"/>
              </a:rPr>
              <a:t>7 binary labels</a:t>
            </a:r>
          </a:p>
        </p:txBody>
      </p:sp>
      <p:sp>
        <p:nvSpPr>
          <p:cNvPr id="87" name="Line 86"/>
          <p:cNvSpPr>
            <a:spLocks noGrp="1"/>
          </p:cNvSpPr>
          <p:nvPr/>
        </p:nvSpPr>
        <p:spPr>
          <a:xfrm>
            <a:off x="6858000" y="12763500"/>
            <a:ext cx="13706850" cy="0"/>
          </a:xfrm>
          <a:prstGeom prst="line">
            <a:avLst/>
          </a:prstGeom>
          <a:noFill/>
          <a:ln w="19050">
            <a:solidFill>
              <a:srgbClr val="B6D7E1"/>
            </a:solidFill>
          </a:ln>
        </p:spPr>
        <p:txBody>
          <a:bodyPr/>
          <a:lstStyle/>
          <a:p/>
        </p:txBody>
      </p:sp>
      <p:sp>
        <p:nvSpPr>
          <p:cNvPr id="88" name="text-63"/>
          <p:cNvSpPr>
            <a:spLocks noGrp="1"/>
          </p:cNvSpPr>
          <p:nvPr/>
        </p:nvSpPr>
        <p:spPr>
          <a:xfrm>
            <a:off x="6867525" y="13001625"/>
            <a:ext cx="3524250" cy="409575"/>
          </a:xfrm>
          <a:prstGeom prst="rect">
            <a:avLst/>
          </a:prstGeom>
          <a:noFill/>
          <a:ln w="0">
            <a:noFill/>
          </a:ln>
        </p:spPr>
        <p:txBody>
          <a:bodyPr wrap="square" lIns="0" tIns="0" rIns="0" bIns="0" anchor="t">
            <a:noAutofit/>
          </a:bodyPr>
          <a:lstStyle/>
          <a:p>
            <a:pPr algn="l"/>
            <a:r>
              <a:rPr sz="2325" b="1">
                <a:solidFill>
                  <a:srgbClr val="071F36"/>
                </a:solidFill>
                <a:latin typeface="Arial"/>
                <a:ea typeface="Arial"/>
                <a:cs typeface="Arial"/>
              </a:rPr>
              <a:t>Reliability checks</a:t>
            </a:r>
          </a:p>
        </p:txBody>
      </p:sp>
      <p:sp>
        <p:nvSpPr>
          <p:cNvPr id="89" name="text-64"/>
          <p:cNvSpPr>
            <a:spLocks noGrp="1"/>
          </p:cNvSpPr>
          <p:nvPr/>
        </p:nvSpPr>
        <p:spPr>
          <a:xfrm>
            <a:off x="10591800" y="12954000"/>
            <a:ext cx="2952750" cy="561975"/>
          </a:xfrm>
          <a:prstGeom prst="rect">
            <a:avLst/>
          </a:prstGeom>
          <a:noFill/>
          <a:ln w="0">
            <a:noFill/>
          </a:ln>
        </p:spPr>
        <p:txBody>
          <a:bodyPr wrap="square" lIns="0" tIns="0" rIns="0" bIns="0" anchor="t">
            <a:noAutofit/>
          </a:bodyPr>
          <a:lstStyle/>
          <a:p>
            <a:pPr algn="ctr"/>
            <a:r>
              <a:rPr sz="3375" b="1">
                <a:solidFill>
                  <a:srgbClr val="167DB7"/>
                </a:solidFill>
                <a:latin typeface="Arial"/>
                <a:ea typeface="Arial"/>
                <a:cs typeface="Arial"/>
              </a:rPr>
              <a:t>0</a:t>
            </a:r>
          </a:p>
        </p:txBody>
      </p:sp>
      <p:sp>
        <p:nvSpPr>
          <p:cNvPr id="90" name="text-65"/>
          <p:cNvSpPr>
            <a:spLocks noGrp="1"/>
          </p:cNvSpPr>
          <p:nvPr/>
        </p:nvSpPr>
        <p:spPr>
          <a:xfrm>
            <a:off x="10477500" y="13563600"/>
            <a:ext cx="3171825" cy="323850"/>
          </a:xfrm>
          <a:prstGeom prst="rect">
            <a:avLst/>
          </a:prstGeom>
          <a:noFill/>
          <a:ln w="0">
            <a:noFill/>
          </a:ln>
        </p:spPr>
        <p:txBody>
          <a:bodyPr wrap="square" lIns="0" tIns="0" rIns="0" bIns="0" anchor="t">
            <a:noAutofit/>
          </a:bodyPr>
          <a:lstStyle/>
          <a:p>
            <a:pPr algn="ctr"/>
            <a:r>
              <a:rPr sz="1725" b="0">
                <a:solidFill>
                  <a:srgbClr val="486174"/>
                </a:solidFill>
                <a:latin typeface="Arial"/>
                <a:ea typeface="Arial"/>
                <a:cs typeface="Arial"/>
              </a:rPr>
              <a:t>groups cross folds*</a:t>
            </a:r>
          </a:p>
        </p:txBody>
      </p:sp>
      <p:sp>
        <p:nvSpPr>
          <p:cNvPr id="91" name="text-66"/>
          <p:cNvSpPr>
            <a:spLocks noGrp="1"/>
          </p:cNvSpPr>
          <p:nvPr/>
        </p:nvSpPr>
        <p:spPr>
          <a:xfrm>
            <a:off x="13735050" y="12954000"/>
            <a:ext cx="2952750" cy="561975"/>
          </a:xfrm>
          <a:prstGeom prst="rect">
            <a:avLst/>
          </a:prstGeom>
          <a:noFill/>
          <a:ln w="0">
            <a:noFill/>
          </a:ln>
        </p:spPr>
        <p:txBody>
          <a:bodyPr wrap="square" lIns="0" tIns="0" rIns="0" bIns="0" anchor="t">
            <a:noAutofit/>
          </a:bodyPr>
          <a:lstStyle/>
          <a:p>
            <a:pPr algn="ctr"/>
            <a:r>
              <a:rPr sz="3375" b="1">
                <a:solidFill>
                  <a:srgbClr val="167DB7"/>
                </a:solidFill>
                <a:latin typeface="Arial"/>
                <a:ea typeface="Arial"/>
                <a:cs typeface="Arial"/>
              </a:rPr>
              <a:t>7 / 7</a:t>
            </a:r>
          </a:p>
        </p:txBody>
      </p:sp>
      <p:sp>
        <p:nvSpPr>
          <p:cNvPr id="92" name="text-67"/>
          <p:cNvSpPr>
            <a:spLocks noGrp="1"/>
          </p:cNvSpPr>
          <p:nvPr/>
        </p:nvSpPr>
        <p:spPr>
          <a:xfrm>
            <a:off x="13620750" y="13563600"/>
            <a:ext cx="3171825" cy="323850"/>
          </a:xfrm>
          <a:prstGeom prst="rect">
            <a:avLst/>
          </a:prstGeom>
          <a:noFill/>
          <a:ln w="0">
            <a:noFill/>
          </a:ln>
        </p:spPr>
        <p:txBody>
          <a:bodyPr wrap="square" lIns="0" tIns="0" rIns="0" bIns="0" anchor="t">
            <a:noAutofit/>
          </a:bodyPr>
          <a:lstStyle/>
          <a:p>
            <a:pPr algn="ctr"/>
            <a:r>
              <a:rPr sz="1725" b="0">
                <a:solidFill>
                  <a:srgbClr val="486174"/>
                </a:solidFill>
                <a:latin typeface="Arial"/>
                <a:ea typeface="Arial"/>
                <a:cs typeface="Arial"/>
              </a:rPr>
              <a:t>label metrics verified</a:t>
            </a:r>
          </a:p>
        </p:txBody>
      </p:sp>
      <p:sp>
        <p:nvSpPr>
          <p:cNvPr id="93" name="text-68"/>
          <p:cNvSpPr>
            <a:spLocks noGrp="1"/>
          </p:cNvSpPr>
          <p:nvPr/>
        </p:nvSpPr>
        <p:spPr>
          <a:xfrm>
            <a:off x="16878300" y="12954000"/>
            <a:ext cx="2952750" cy="561975"/>
          </a:xfrm>
          <a:prstGeom prst="rect">
            <a:avLst/>
          </a:prstGeom>
          <a:noFill/>
          <a:ln w="0">
            <a:noFill/>
          </a:ln>
        </p:spPr>
        <p:txBody>
          <a:bodyPr wrap="square" lIns="0" tIns="0" rIns="0" bIns="0" anchor="t">
            <a:noAutofit/>
          </a:bodyPr>
          <a:lstStyle/>
          <a:p>
            <a:pPr algn="ctr"/>
            <a:r>
              <a:rPr sz="3375" b="1">
                <a:solidFill>
                  <a:srgbClr val="167DB7"/>
                </a:solidFill>
                <a:latin typeface="Arial"/>
                <a:ea typeface="Arial"/>
                <a:cs typeface="Arial"/>
              </a:rPr>
              <a:t>1,000</a:t>
            </a:r>
          </a:p>
        </p:txBody>
      </p:sp>
      <p:sp>
        <p:nvSpPr>
          <p:cNvPr id="94" name="text-69"/>
          <p:cNvSpPr>
            <a:spLocks noGrp="1"/>
          </p:cNvSpPr>
          <p:nvPr/>
        </p:nvSpPr>
        <p:spPr>
          <a:xfrm>
            <a:off x="16764000" y="13563600"/>
            <a:ext cx="3171825" cy="323850"/>
          </a:xfrm>
          <a:prstGeom prst="rect">
            <a:avLst/>
          </a:prstGeom>
          <a:noFill/>
          <a:ln w="0">
            <a:noFill/>
          </a:ln>
        </p:spPr>
        <p:txBody>
          <a:bodyPr wrap="square" lIns="0" tIns="0" rIns="0" bIns="0" anchor="t">
            <a:noAutofit/>
          </a:bodyPr>
          <a:lstStyle/>
          <a:p>
            <a:pPr algn="ctr"/>
            <a:r>
              <a:rPr sz="1725" b="0">
                <a:solidFill>
                  <a:srgbClr val="486174"/>
                </a:solidFill>
                <a:latin typeface="Arial"/>
                <a:ea typeface="Arial"/>
                <a:cs typeface="Arial"/>
              </a:rPr>
              <a:t>test IDs aligned</a:t>
            </a:r>
          </a:p>
        </p:txBody>
      </p:sp>
      <p:sp>
        <p:nvSpPr>
          <p:cNvPr id="95" name="text-70"/>
          <p:cNvSpPr>
            <a:spLocks noGrp="1"/>
          </p:cNvSpPr>
          <p:nvPr/>
        </p:nvSpPr>
        <p:spPr>
          <a:xfrm>
            <a:off x="6858000" y="13906500"/>
            <a:ext cx="13706850" cy="276225"/>
          </a:xfrm>
          <a:prstGeom prst="rect">
            <a:avLst/>
          </a:prstGeom>
          <a:noFill/>
          <a:ln w="0">
            <a:noFill/>
          </a:ln>
        </p:spPr>
        <p:txBody>
          <a:bodyPr wrap="square" lIns="0" tIns="0" rIns="0" bIns="0" anchor="t">
            <a:noAutofit/>
          </a:bodyPr>
          <a:lstStyle/>
          <a:p>
            <a:pPr algn="l"/>
            <a:r>
              <a:rPr sz="1725" b="0">
                <a:solidFill>
                  <a:srgbClr val="486174"/>
                </a:solidFill>
                <a:latin typeface="Arial"/>
                <a:ea typeface="Arial"/>
                <a:cs typeface="Arial"/>
              </a:rPr>
              <a:t>*Normalized text groups in the supplied V35 five-fold assignment.</a:t>
            </a:r>
          </a:p>
        </p:txBody>
      </p:sp>
      <p:sp>
        <p:nvSpPr>
          <p:cNvPr id="96" name="shape-71"/>
          <p:cNvSpPr>
            <a:spLocks noGrp="1"/>
          </p:cNvSpPr>
          <p:nvPr/>
        </p:nvSpPr>
        <p:spPr>
          <a:xfrm>
            <a:off x="571500" y="14535150"/>
            <a:ext cx="12668250" cy="6572250"/>
          </a:xfrm>
          <a:prstGeom prst="rect">
            <a:avLst/>
          </a:prstGeom>
          <a:solidFill>
            <a:srgbClr val="FFFFFF"/>
          </a:solidFill>
          <a:ln w="14288">
            <a:solidFill>
              <a:srgbClr val="B6D7E1"/>
            </a:solidFill>
          </a:ln>
        </p:spPr>
        <p:txBody>
          <a:bodyPr/>
          <a:lstStyle/>
          <a:p/>
        </p:txBody>
      </p:sp>
      <p:sp>
        <p:nvSpPr>
          <p:cNvPr id="97" name="shape-72"/>
          <p:cNvSpPr>
            <a:spLocks noGrp="1"/>
          </p:cNvSpPr>
          <p:nvPr/>
        </p:nvSpPr>
        <p:spPr>
          <a:xfrm>
            <a:off x="571500" y="14535150"/>
            <a:ext cx="12668250" cy="552450"/>
          </a:xfrm>
          <a:prstGeom prst="rect">
            <a:avLst/>
          </a:prstGeom>
          <a:solidFill>
            <a:srgbClr val="071F36"/>
          </a:solidFill>
          <a:ln w="0">
            <a:noFill/>
          </a:ln>
        </p:spPr>
        <p:txBody>
          <a:bodyPr/>
          <a:lstStyle/>
          <a:p/>
        </p:txBody>
      </p:sp>
      <p:sp>
        <p:nvSpPr>
          <p:cNvPr id="98" name="shape-73"/>
          <p:cNvSpPr>
            <a:spLocks noGrp="1"/>
          </p:cNvSpPr>
          <p:nvPr/>
        </p:nvSpPr>
        <p:spPr>
          <a:xfrm>
            <a:off x="571500" y="14535150"/>
            <a:ext cx="66675" cy="552450"/>
          </a:xfrm>
          <a:prstGeom prst="rect">
            <a:avLst/>
          </a:prstGeom>
          <a:solidFill>
            <a:srgbClr val="00ACC7"/>
          </a:solidFill>
          <a:ln w="0">
            <a:noFill/>
          </a:ln>
        </p:spPr>
        <p:txBody>
          <a:bodyPr/>
          <a:lstStyle/>
          <a:p/>
        </p:txBody>
      </p:sp>
      <p:pic>
        <p:nvPicPr>
          <p:cNvPr id="99" name="Picture 98"/>
          <p:cNvPicPr>
            <a:picLocks noChangeAspect="1"/>
          </p:cNvPicPr>
          <p:nvPr/>
        </p:nvPicPr>
        <p:blipFill>
          <a:blip r:embed="rId15"/>
          <a:srcRect/>
          <a:stretch>
            <a:fillRect/>
          </a:stretch>
        </p:blipFill>
        <p:spPr>
          <a:xfrm>
            <a:off x="781050" y="14639925"/>
            <a:ext cx="352425" cy="352425"/>
          </a:xfrm>
          <a:prstGeom prst="rect">
            <a:avLst/>
          </a:prstGeom>
        </p:spPr>
      </p:pic>
      <p:sp>
        <p:nvSpPr>
          <p:cNvPr id="100" name="text-74"/>
          <p:cNvSpPr>
            <a:spLocks noGrp="1"/>
          </p:cNvSpPr>
          <p:nvPr/>
        </p:nvSpPr>
        <p:spPr>
          <a:xfrm>
            <a:off x="1314450" y="14620875"/>
            <a:ext cx="117538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5.2 Model Architecture</a:t>
            </a:r>
          </a:p>
        </p:txBody>
      </p:sp>
      <p:sp>
        <p:nvSpPr>
          <p:cNvPr id="101" name="text-75"/>
          <p:cNvSpPr>
            <a:spLocks noGrp="1"/>
          </p:cNvSpPr>
          <p:nvPr/>
        </p:nvSpPr>
        <p:spPr>
          <a:xfrm>
            <a:off x="809625" y="15268575"/>
            <a:ext cx="5715000" cy="361950"/>
          </a:xfrm>
          <a:prstGeom prst="rect">
            <a:avLst/>
          </a:prstGeom>
          <a:noFill/>
          <a:ln w="0">
            <a:noFill/>
          </a:ln>
        </p:spPr>
        <p:txBody>
          <a:bodyPr wrap="square" lIns="0" tIns="0" rIns="0" bIns="0" anchor="t">
            <a:noAutofit/>
          </a:bodyPr>
          <a:lstStyle/>
          <a:p>
            <a:pPr algn="l"/>
            <a:r>
              <a:rPr sz="2175" b="1">
                <a:solidFill>
                  <a:srgbClr val="486174"/>
                </a:solidFill>
                <a:latin typeface="Arial"/>
                <a:ea typeface="Arial"/>
                <a:cs typeface="Arial"/>
              </a:rPr>
              <a:t>Parallel model signals</a:t>
            </a:r>
          </a:p>
        </p:txBody>
      </p:sp>
      <p:sp>
        <p:nvSpPr>
          <p:cNvPr id="102" name="text-76"/>
          <p:cNvSpPr>
            <a:spLocks noGrp="1"/>
          </p:cNvSpPr>
          <p:nvPr/>
        </p:nvSpPr>
        <p:spPr>
          <a:xfrm>
            <a:off x="7334250" y="15268575"/>
            <a:ext cx="5524500" cy="361950"/>
          </a:xfrm>
          <a:prstGeom prst="rect">
            <a:avLst/>
          </a:prstGeom>
          <a:noFill/>
          <a:ln w="0">
            <a:noFill/>
          </a:ln>
        </p:spPr>
        <p:txBody>
          <a:bodyPr wrap="square" lIns="0" tIns="0" rIns="0" bIns="0" anchor="t">
            <a:noAutofit/>
          </a:bodyPr>
          <a:lstStyle/>
          <a:p>
            <a:pPr algn="l"/>
            <a:r>
              <a:rPr sz="2175" b="1">
                <a:solidFill>
                  <a:srgbClr val="486174"/>
                </a:solidFill>
                <a:latin typeface="Arial"/>
                <a:ea typeface="Arial"/>
                <a:cs typeface="Arial"/>
              </a:rPr>
              <a:t>Label-specific routing and decisions</a:t>
            </a:r>
          </a:p>
        </p:txBody>
      </p:sp>
      <p:sp>
        <p:nvSpPr>
          <p:cNvPr id="103" name="shape-77"/>
          <p:cNvSpPr>
            <a:spLocks noGrp="1"/>
          </p:cNvSpPr>
          <p:nvPr/>
        </p:nvSpPr>
        <p:spPr>
          <a:xfrm>
            <a:off x="828675" y="17087850"/>
            <a:ext cx="2133600" cy="1609725"/>
          </a:xfrm>
          <a:prstGeom prst="rect">
            <a:avLst/>
          </a:prstGeom>
          <a:solidFill>
            <a:srgbClr val="F1F8FC"/>
          </a:solidFill>
          <a:ln w="19050">
            <a:solidFill>
              <a:srgbClr val="071F36"/>
            </a:solidFill>
          </a:ln>
        </p:spPr>
        <p:txBody>
          <a:bodyPr/>
          <a:lstStyle/>
          <a:p/>
        </p:txBody>
      </p:sp>
      <p:sp>
        <p:nvSpPr>
          <p:cNvPr id="104" name="shape-78"/>
          <p:cNvSpPr>
            <a:spLocks noGrp="1"/>
          </p:cNvSpPr>
          <p:nvPr/>
        </p:nvSpPr>
        <p:spPr>
          <a:xfrm>
            <a:off x="828675" y="17087850"/>
            <a:ext cx="57150" cy="1609725"/>
          </a:xfrm>
          <a:prstGeom prst="rect">
            <a:avLst/>
          </a:prstGeom>
          <a:solidFill>
            <a:srgbClr val="071F36"/>
          </a:solidFill>
          <a:ln w="0">
            <a:noFill/>
          </a:ln>
        </p:spPr>
        <p:txBody>
          <a:bodyPr/>
          <a:lstStyle/>
          <a:p/>
        </p:txBody>
      </p:sp>
      <p:pic>
        <p:nvPicPr>
          <p:cNvPr id="105" name="Picture 104"/>
          <p:cNvPicPr>
            <a:picLocks noChangeAspect="1"/>
          </p:cNvPicPr>
          <p:nvPr/>
        </p:nvPicPr>
        <p:blipFill>
          <a:blip r:embed="rId16"/>
          <a:srcRect/>
          <a:stretch>
            <a:fillRect/>
          </a:stretch>
        </p:blipFill>
        <p:spPr>
          <a:xfrm>
            <a:off x="990600" y="17192625"/>
            <a:ext cx="400050" cy="400050"/>
          </a:xfrm>
          <a:prstGeom prst="rect">
            <a:avLst/>
          </a:prstGeom>
        </p:spPr>
      </p:pic>
      <p:sp>
        <p:nvSpPr>
          <p:cNvPr id="106" name="text-79"/>
          <p:cNvSpPr>
            <a:spLocks noGrp="1"/>
          </p:cNvSpPr>
          <p:nvPr/>
        </p:nvSpPr>
        <p:spPr>
          <a:xfrm>
            <a:off x="1524000" y="17230725"/>
            <a:ext cx="1323975" cy="381000"/>
          </a:xfrm>
          <a:prstGeom prst="rect">
            <a:avLst/>
          </a:prstGeom>
          <a:noFill/>
          <a:ln w="0">
            <a:noFill/>
          </a:ln>
        </p:spPr>
        <p:txBody>
          <a:bodyPr wrap="square" lIns="0" tIns="0" rIns="0" bIns="0" anchor="t">
            <a:noAutofit/>
          </a:bodyPr>
          <a:lstStyle/>
          <a:p>
            <a:pPr algn="l"/>
            <a:r>
              <a:rPr sz="2025" b="1">
                <a:solidFill>
                  <a:srgbClr val="071F36"/>
                </a:solidFill>
                <a:latin typeface="Arial"/>
                <a:ea typeface="Arial"/>
                <a:cs typeface="Arial"/>
              </a:rPr>
              <a:t>Input text</a:t>
            </a:r>
          </a:p>
        </p:txBody>
      </p:sp>
      <p:sp>
        <p:nvSpPr>
          <p:cNvPr id="107" name="text-80"/>
          <p:cNvSpPr>
            <a:spLocks noGrp="1"/>
          </p:cNvSpPr>
          <p:nvPr/>
        </p:nvSpPr>
        <p:spPr>
          <a:xfrm>
            <a:off x="1000125" y="17678400"/>
            <a:ext cx="1809750" cy="971550"/>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Bengali /</a:t>
            </a:r>
          </a:p>
          <a:p>
            <a:pPr algn="l"/>
            <a:r>
              <a:rPr sz="1950" b="0">
                <a:solidFill>
                  <a:srgbClr val="17354B"/>
                </a:solidFill>
                <a:latin typeface="Arial"/>
                <a:ea typeface="Arial"/>
                <a:cs typeface="Arial"/>
              </a:rPr>
              <a:t>Banglish /</a:t>
            </a:r>
          </a:p>
          <a:p>
            <a:pPr algn="l"/>
            <a:r>
              <a:rPr sz="1950" b="0">
                <a:solidFill>
                  <a:srgbClr val="17354B"/>
                </a:solidFill>
                <a:latin typeface="Arial"/>
                <a:ea typeface="Arial"/>
                <a:cs typeface="Arial"/>
              </a:rPr>
              <a:t>mixed scripts</a:t>
            </a:r>
          </a:p>
        </p:txBody>
      </p:sp>
      <p:sp>
        <p:nvSpPr>
          <p:cNvPr id="108" name="shape-81"/>
          <p:cNvSpPr>
            <a:spLocks noGrp="1"/>
          </p:cNvSpPr>
          <p:nvPr/>
        </p:nvSpPr>
        <p:spPr>
          <a:xfrm>
            <a:off x="3562350" y="15801975"/>
            <a:ext cx="3267075" cy="1581150"/>
          </a:xfrm>
          <a:prstGeom prst="rect">
            <a:avLst/>
          </a:prstGeom>
          <a:solidFill>
            <a:srgbClr val="F1F8FC"/>
          </a:solidFill>
          <a:ln w="19050">
            <a:solidFill>
              <a:srgbClr val="167DB7"/>
            </a:solidFill>
          </a:ln>
        </p:spPr>
        <p:txBody>
          <a:bodyPr/>
          <a:lstStyle/>
          <a:p/>
        </p:txBody>
      </p:sp>
      <p:sp>
        <p:nvSpPr>
          <p:cNvPr id="109" name="shape-82"/>
          <p:cNvSpPr>
            <a:spLocks noGrp="1"/>
          </p:cNvSpPr>
          <p:nvPr/>
        </p:nvSpPr>
        <p:spPr>
          <a:xfrm>
            <a:off x="3562350" y="15801975"/>
            <a:ext cx="57150" cy="1581150"/>
          </a:xfrm>
          <a:prstGeom prst="rect">
            <a:avLst/>
          </a:prstGeom>
          <a:solidFill>
            <a:srgbClr val="167DB7"/>
          </a:solidFill>
          <a:ln w="0">
            <a:noFill/>
          </a:ln>
        </p:spPr>
        <p:txBody>
          <a:bodyPr/>
          <a:lstStyle/>
          <a:p/>
        </p:txBody>
      </p:sp>
      <p:pic>
        <p:nvPicPr>
          <p:cNvPr id="110" name="Picture 109"/>
          <p:cNvPicPr>
            <a:picLocks noChangeAspect="1"/>
          </p:cNvPicPr>
          <p:nvPr/>
        </p:nvPicPr>
        <p:blipFill>
          <a:blip r:embed="rId17"/>
          <a:srcRect/>
          <a:stretch>
            <a:fillRect/>
          </a:stretch>
        </p:blipFill>
        <p:spPr>
          <a:xfrm>
            <a:off x="3724275" y="15906750"/>
            <a:ext cx="400050" cy="400050"/>
          </a:xfrm>
          <a:prstGeom prst="rect">
            <a:avLst/>
          </a:prstGeom>
        </p:spPr>
      </p:pic>
      <p:sp>
        <p:nvSpPr>
          <p:cNvPr id="111" name="text-83"/>
          <p:cNvSpPr>
            <a:spLocks noGrp="1"/>
          </p:cNvSpPr>
          <p:nvPr/>
        </p:nvSpPr>
        <p:spPr>
          <a:xfrm>
            <a:off x="4257675" y="15944850"/>
            <a:ext cx="2457450" cy="38100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Baseline models</a:t>
            </a:r>
          </a:p>
        </p:txBody>
      </p:sp>
      <p:sp>
        <p:nvSpPr>
          <p:cNvPr id="112" name="text-84"/>
          <p:cNvSpPr>
            <a:spLocks noGrp="1"/>
          </p:cNvSpPr>
          <p:nvPr/>
        </p:nvSpPr>
        <p:spPr>
          <a:xfrm>
            <a:off x="3733800" y="16392525"/>
            <a:ext cx="2943225" cy="9429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BanglaBERT +</a:t>
            </a:r>
          </a:p>
          <a:p>
            <a:pPr algn="l"/>
            <a:r>
              <a:rPr sz="1950" b="0">
                <a:solidFill>
                  <a:srgbClr val="17354B"/>
                </a:solidFill>
                <a:latin typeface="Arial"/>
                <a:ea typeface="Arial"/>
                <a:cs typeface="Arial"/>
              </a:rPr>
              <a:t>TF-IDF / LR</a:t>
            </a:r>
          </a:p>
          <a:p>
            <a:pPr algn="l"/>
            <a:r>
              <a:rPr sz="1950" b="0">
                <a:solidFill>
                  <a:srgbClr val="17354B"/>
                </a:solidFill>
                <a:latin typeface="Arial"/>
                <a:ea typeface="Arial"/>
                <a:cs typeface="Arial"/>
              </a:rPr>
              <a:t>V2 / V14 lineage</a:t>
            </a:r>
          </a:p>
        </p:txBody>
      </p:sp>
      <p:sp>
        <p:nvSpPr>
          <p:cNvPr id="113" name="shape-85"/>
          <p:cNvSpPr>
            <a:spLocks noGrp="1"/>
          </p:cNvSpPr>
          <p:nvPr/>
        </p:nvSpPr>
        <p:spPr>
          <a:xfrm>
            <a:off x="3562350" y="17621250"/>
            <a:ext cx="3267075" cy="1581150"/>
          </a:xfrm>
          <a:prstGeom prst="rect">
            <a:avLst/>
          </a:prstGeom>
          <a:solidFill>
            <a:srgbClr val="F1F8FC"/>
          </a:solidFill>
          <a:ln w="19050">
            <a:solidFill>
              <a:srgbClr val="7253B6"/>
            </a:solidFill>
          </a:ln>
        </p:spPr>
        <p:txBody>
          <a:bodyPr/>
          <a:lstStyle/>
          <a:p/>
        </p:txBody>
      </p:sp>
      <p:sp>
        <p:nvSpPr>
          <p:cNvPr id="114" name="shape-86"/>
          <p:cNvSpPr>
            <a:spLocks noGrp="1"/>
          </p:cNvSpPr>
          <p:nvPr/>
        </p:nvSpPr>
        <p:spPr>
          <a:xfrm>
            <a:off x="3562350" y="17621250"/>
            <a:ext cx="57150" cy="1581150"/>
          </a:xfrm>
          <a:prstGeom prst="rect">
            <a:avLst/>
          </a:prstGeom>
          <a:solidFill>
            <a:srgbClr val="7253B6"/>
          </a:solidFill>
          <a:ln w="0">
            <a:noFill/>
          </a:ln>
        </p:spPr>
        <p:txBody>
          <a:bodyPr/>
          <a:lstStyle/>
          <a:p/>
        </p:txBody>
      </p:sp>
      <p:pic>
        <p:nvPicPr>
          <p:cNvPr id="115" name="Picture 114"/>
          <p:cNvPicPr>
            <a:picLocks noChangeAspect="1"/>
          </p:cNvPicPr>
          <p:nvPr/>
        </p:nvPicPr>
        <p:blipFill>
          <a:blip r:embed="rId18"/>
          <a:srcRect/>
          <a:stretch>
            <a:fillRect/>
          </a:stretch>
        </p:blipFill>
        <p:spPr>
          <a:xfrm>
            <a:off x="3724275" y="17726025"/>
            <a:ext cx="400050" cy="400050"/>
          </a:xfrm>
          <a:prstGeom prst="rect">
            <a:avLst/>
          </a:prstGeom>
        </p:spPr>
      </p:pic>
      <p:sp>
        <p:nvSpPr>
          <p:cNvPr id="116" name="text-87"/>
          <p:cNvSpPr>
            <a:spLocks noGrp="1"/>
          </p:cNvSpPr>
          <p:nvPr/>
        </p:nvSpPr>
        <p:spPr>
          <a:xfrm>
            <a:off x="4257675" y="17764125"/>
            <a:ext cx="2457450" cy="381000"/>
          </a:xfrm>
          <a:prstGeom prst="rect">
            <a:avLst/>
          </a:prstGeom>
          <a:noFill/>
          <a:ln w="0">
            <a:noFill/>
          </a:ln>
        </p:spPr>
        <p:txBody>
          <a:bodyPr wrap="square" lIns="0" tIns="0" rIns="0" bIns="0" anchor="t">
            <a:noAutofit/>
          </a:bodyPr>
          <a:lstStyle/>
          <a:p>
            <a:pPr algn="l"/>
            <a:r>
              <a:rPr sz="2025" b="1">
                <a:solidFill>
                  <a:srgbClr val="7253B6"/>
                </a:solidFill>
                <a:latin typeface="Arial"/>
                <a:ea typeface="Arial"/>
                <a:cs typeface="Arial"/>
              </a:rPr>
              <a:t>XLM-R encoder</a:t>
            </a:r>
          </a:p>
        </p:txBody>
      </p:sp>
      <p:sp>
        <p:nvSpPr>
          <p:cNvPr id="117" name="text-88"/>
          <p:cNvSpPr>
            <a:spLocks noGrp="1"/>
          </p:cNvSpPr>
          <p:nvPr/>
        </p:nvSpPr>
        <p:spPr>
          <a:xfrm>
            <a:off x="3733800" y="18211800"/>
            <a:ext cx="2943225" cy="9429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tb-XLM-R-fpt</a:t>
            </a:r>
          </a:p>
          <a:p>
            <a:pPr algn="l"/>
            <a:r>
              <a:rPr sz="1950" b="0">
                <a:solidFill>
                  <a:srgbClr val="17354B"/>
                </a:solidFill>
                <a:latin typeface="Arial"/>
                <a:ea typeface="Arial"/>
                <a:cs typeface="Arial"/>
              </a:rPr>
              <a:t>5 folds; mean of</a:t>
            </a:r>
          </a:p>
          <a:p>
            <a:pPr algn="l"/>
            <a:r>
              <a:rPr sz="1950" b="0">
                <a:solidFill>
                  <a:srgbClr val="17354B"/>
                </a:solidFill>
                <a:latin typeface="Arial"/>
                <a:ea typeface="Arial"/>
                <a:cs typeface="Arial"/>
              </a:rPr>
              <a:t>epochs 2 and 3</a:t>
            </a:r>
          </a:p>
        </p:txBody>
      </p:sp>
      <p:sp>
        <p:nvSpPr>
          <p:cNvPr id="118" name="shape-89"/>
          <p:cNvSpPr>
            <a:spLocks noGrp="1"/>
          </p:cNvSpPr>
          <p:nvPr/>
        </p:nvSpPr>
        <p:spPr>
          <a:xfrm>
            <a:off x="3562350" y="19440525"/>
            <a:ext cx="3267075" cy="1390650"/>
          </a:xfrm>
          <a:prstGeom prst="rect">
            <a:avLst/>
          </a:prstGeom>
          <a:solidFill>
            <a:srgbClr val="F1F8FC"/>
          </a:solidFill>
          <a:ln w="19050">
            <a:solidFill>
              <a:srgbClr val="167DB7"/>
            </a:solidFill>
          </a:ln>
        </p:spPr>
        <p:txBody>
          <a:bodyPr/>
          <a:lstStyle/>
          <a:p/>
        </p:txBody>
      </p:sp>
      <p:sp>
        <p:nvSpPr>
          <p:cNvPr id="119" name="shape-90"/>
          <p:cNvSpPr>
            <a:spLocks noGrp="1"/>
          </p:cNvSpPr>
          <p:nvPr/>
        </p:nvSpPr>
        <p:spPr>
          <a:xfrm>
            <a:off x="3562350" y="19440525"/>
            <a:ext cx="57150" cy="1390650"/>
          </a:xfrm>
          <a:prstGeom prst="rect">
            <a:avLst/>
          </a:prstGeom>
          <a:solidFill>
            <a:srgbClr val="167DB7"/>
          </a:solidFill>
          <a:ln w="0">
            <a:noFill/>
          </a:ln>
        </p:spPr>
        <p:txBody>
          <a:bodyPr/>
          <a:lstStyle/>
          <a:p/>
        </p:txBody>
      </p:sp>
      <p:pic>
        <p:nvPicPr>
          <p:cNvPr id="120" name="Picture 119"/>
          <p:cNvPicPr>
            <a:picLocks noChangeAspect="1"/>
          </p:cNvPicPr>
          <p:nvPr/>
        </p:nvPicPr>
        <p:blipFill>
          <a:blip r:embed="rId19"/>
          <a:srcRect/>
          <a:stretch>
            <a:fillRect/>
          </a:stretch>
        </p:blipFill>
        <p:spPr>
          <a:xfrm>
            <a:off x="3724275" y="19545300"/>
            <a:ext cx="400050" cy="400050"/>
          </a:xfrm>
          <a:prstGeom prst="rect">
            <a:avLst/>
          </a:prstGeom>
        </p:spPr>
      </p:pic>
      <p:sp>
        <p:nvSpPr>
          <p:cNvPr id="121" name="text-91"/>
          <p:cNvSpPr>
            <a:spLocks noGrp="1"/>
          </p:cNvSpPr>
          <p:nvPr/>
        </p:nvSpPr>
        <p:spPr>
          <a:xfrm>
            <a:off x="4257675" y="19583400"/>
            <a:ext cx="2457450" cy="38100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Threat specialist</a:t>
            </a:r>
          </a:p>
        </p:txBody>
      </p:sp>
      <p:sp>
        <p:nvSpPr>
          <p:cNvPr id="122" name="text-92"/>
          <p:cNvSpPr>
            <a:spLocks noGrp="1"/>
          </p:cNvSpPr>
          <p:nvPr/>
        </p:nvSpPr>
        <p:spPr>
          <a:xfrm>
            <a:off x="3733800" y="20031075"/>
            <a:ext cx="2943225" cy="7524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BGE-M3-Bangla</a:t>
            </a:r>
          </a:p>
          <a:p>
            <a:pPr algn="l"/>
            <a:r>
              <a:rPr sz="1950" b="0">
                <a:solidFill>
                  <a:srgbClr val="17354B"/>
                </a:solidFill>
                <a:latin typeface="Arial"/>
                <a:ea typeface="Arial"/>
                <a:cs typeface="Arial"/>
              </a:rPr>
              <a:t>Embeddings + 5 LR</a:t>
            </a:r>
          </a:p>
        </p:txBody>
      </p:sp>
      <p:sp>
        <p:nvSpPr>
          <p:cNvPr id="123" name="Line 122"/>
          <p:cNvSpPr>
            <a:spLocks noGrp="1"/>
          </p:cNvSpPr>
          <p:nvPr/>
        </p:nvSpPr>
        <p:spPr>
          <a:xfrm>
            <a:off x="2962275" y="17907000"/>
            <a:ext cx="276225" cy="0"/>
          </a:xfrm>
          <a:prstGeom prst="line">
            <a:avLst/>
          </a:prstGeom>
          <a:noFill/>
          <a:ln w="28575">
            <a:solidFill>
              <a:srgbClr val="00ACC7"/>
            </a:solidFill>
          </a:ln>
        </p:spPr>
        <p:txBody>
          <a:bodyPr/>
          <a:lstStyle/>
          <a:p/>
        </p:txBody>
      </p:sp>
      <p:sp>
        <p:nvSpPr>
          <p:cNvPr id="124" name="Line 123"/>
          <p:cNvSpPr>
            <a:spLocks noGrp="1"/>
          </p:cNvSpPr>
          <p:nvPr/>
        </p:nvSpPr>
        <p:spPr>
          <a:xfrm>
            <a:off x="3238500" y="16573500"/>
            <a:ext cx="0" cy="3524250"/>
          </a:xfrm>
          <a:prstGeom prst="line">
            <a:avLst/>
          </a:prstGeom>
          <a:noFill/>
          <a:ln w="28575">
            <a:solidFill>
              <a:srgbClr val="00ACC7"/>
            </a:solidFill>
          </a:ln>
        </p:spPr>
        <p:txBody>
          <a:bodyPr/>
          <a:lstStyle/>
          <a:p/>
        </p:txBody>
      </p:sp>
      <p:sp>
        <p:nvSpPr>
          <p:cNvPr id="125" name="Line 124"/>
          <p:cNvSpPr>
            <a:spLocks noGrp="1"/>
          </p:cNvSpPr>
          <p:nvPr/>
        </p:nvSpPr>
        <p:spPr>
          <a:xfrm>
            <a:off x="3238500" y="16573500"/>
            <a:ext cx="190500" cy="0"/>
          </a:xfrm>
          <a:prstGeom prst="line">
            <a:avLst/>
          </a:prstGeom>
          <a:noFill/>
          <a:ln w="28575">
            <a:solidFill>
              <a:srgbClr val="00ACC7"/>
            </a:solidFill>
          </a:ln>
        </p:spPr>
        <p:txBody>
          <a:bodyPr/>
          <a:lstStyle/>
          <a:p/>
        </p:txBody>
      </p:sp>
      <p:sp>
        <p:nvSpPr>
          <p:cNvPr id="126" name="Right Arrow 125"/>
          <p:cNvSpPr>
            <a:spLocks noGrp="1"/>
          </p:cNvSpPr>
          <p:nvPr/>
        </p:nvSpPr>
        <p:spPr>
          <a:xfrm>
            <a:off x="3390900" y="16506825"/>
            <a:ext cx="171450" cy="133350"/>
          </a:xfrm>
          <a:prstGeom prst="rightArrow">
            <a:avLst/>
          </a:prstGeom>
          <a:solidFill>
            <a:srgbClr val="00ACC7"/>
          </a:solidFill>
          <a:ln w="0">
            <a:noFill/>
          </a:ln>
        </p:spPr>
        <p:txBody>
          <a:bodyPr/>
          <a:lstStyle/>
          <a:p/>
        </p:txBody>
      </p:sp>
      <p:sp>
        <p:nvSpPr>
          <p:cNvPr id="127" name="Line 126"/>
          <p:cNvSpPr>
            <a:spLocks noGrp="1"/>
          </p:cNvSpPr>
          <p:nvPr/>
        </p:nvSpPr>
        <p:spPr>
          <a:xfrm>
            <a:off x="3238500" y="18411825"/>
            <a:ext cx="190500" cy="0"/>
          </a:xfrm>
          <a:prstGeom prst="line">
            <a:avLst/>
          </a:prstGeom>
          <a:noFill/>
          <a:ln w="28575">
            <a:solidFill>
              <a:srgbClr val="00ACC7"/>
            </a:solidFill>
          </a:ln>
        </p:spPr>
        <p:txBody>
          <a:bodyPr/>
          <a:lstStyle/>
          <a:p/>
        </p:txBody>
      </p:sp>
      <p:sp>
        <p:nvSpPr>
          <p:cNvPr id="128" name="Right Arrow 127"/>
          <p:cNvSpPr>
            <a:spLocks noGrp="1"/>
          </p:cNvSpPr>
          <p:nvPr/>
        </p:nvSpPr>
        <p:spPr>
          <a:xfrm>
            <a:off x="3390900" y="18345150"/>
            <a:ext cx="171450" cy="133350"/>
          </a:xfrm>
          <a:prstGeom prst="rightArrow">
            <a:avLst/>
          </a:prstGeom>
          <a:solidFill>
            <a:srgbClr val="00ACC7"/>
          </a:solidFill>
          <a:ln w="0">
            <a:noFill/>
          </a:ln>
        </p:spPr>
        <p:txBody>
          <a:bodyPr/>
          <a:lstStyle/>
          <a:p/>
        </p:txBody>
      </p:sp>
      <p:sp>
        <p:nvSpPr>
          <p:cNvPr id="129" name="Line 128"/>
          <p:cNvSpPr>
            <a:spLocks noGrp="1"/>
          </p:cNvSpPr>
          <p:nvPr/>
        </p:nvSpPr>
        <p:spPr>
          <a:xfrm>
            <a:off x="3238500" y="20097750"/>
            <a:ext cx="190500" cy="0"/>
          </a:xfrm>
          <a:prstGeom prst="line">
            <a:avLst/>
          </a:prstGeom>
          <a:noFill/>
          <a:ln w="28575">
            <a:solidFill>
              <a:srgbClr val="00ACC7"/>
            </a:solidFill>
          </a:ln>
        </p:spPr>
        <p:txBody>
          <a:bodyPr/>
          <a:lstStyle/>
          <a:p/>
        </p:txBody>
      </p:sp>
      <p:sp>
        <p:nvSpPr>
          <p:cNvPr id="130" name="Right Arrow 129"/>
          <p:cNvSpPr>
            <a:spLocks noGrp="1"/>
          </p:cNvSpPr>
          <p:nvPr/>
        </p:nvSpPr>
        <p:spPr>
          <a:xfrm>
            <a:off x="3390900" y="20031075"/>
            <a:ext cx="171450" cy="133350"/>
          </a:xfrm>
          <a:prstGeom prst="rightArrow">
            <a:avLst/>
          </a:prstGeom>
          <a:solidFill>
            <a:srgbClr val="00ACC7"/>
          </a:solidFill>
          <a:ln w="0">
            <a:noFill/>
          </a:ln>
        </p:spPr>
        <p:txBody>
          <a:bodyPr/>
          <a:lstStyle/>
          <a:p/>
        </p:txBody>
      </p:sp>
      <p:sp>
        <p:nvSpPr>
          <p:cNvPr id="131" name="shape-93"/>
          <p:cNvSpPr>
            <a:spLocks noGrp="1"/>
          </p:cNvSpPr>
          <p:nvPr/>
        </p:nvSpPr>
        <p:spPr>
          <a:xfrm>
            <a:off x="7534275" y="15811500"/>
            <a:ext cx="5438775" cy="1200150"/>
          </a:xfrm>
          <a:prstGeom prst="rect">
            <a:avLst/>
          </a:prstGeom>
          <a:solidFill>
            <a:srgbClr val="F1F8FC"/>
          </a:solidFill>
          <a:ln w="19050">
            <a:solidFill>
              <a:srgbClr val="167DB7"/>
            </a:solidFill>
          </a:ln>
        </p:spPr>
        <p:txBody>
          <a:bodyPr/>
          <a:lstStyle/>
          <a:p/>
        </p:txBody>
      </p:sp>
      <p:sp>
        <p:nvSpPr>
          <p:cNvPr id="132" name="shape-94"/>
          <p:cNvSpPr>
            <a:spLocks noGrp="1"/>
          </p:cNvSpPr>
          <p:nvPr/>
        </p:nvSpPr>
        <p:spPr>
          <a:xfrm>
            <a:off x="7534275" y="15811500"/>
            <a:ext cx="57150" cy="1200150"/>
          </a:xfrm>
          <a:prstGeom prst="rect">
            <a:avLst/>
          </a:prstGeom>
          <a:solidFill>
            <a:srgbClr val="167DB7"/>
          </a:solidFill>
          <a:ln w="0">
            <a:noFill/>
          </a:ln>
        </p:spPr>
        <p:txBody>
          <a:bodyPr/>
          <a:lstStyle/>
          <a:p/>
        </p:txBody>
      </p:sp>
      <p:pic>
        <p:nvPicPr>
          <p:cNvPr id="133" name="Picture 132"/>
          <p:cNvPicPr>
            <a:picLocks noChangeAspect="1"/>
          </p:cNvPicPr>
          <p:nvPr/>
        </p:nvPicPr>
        <p:blipFill>
          <a:blip r:embed="rId20"/>
          <a:srcRect/>
          <a:stretch>
            <a:fillRect/>
          </a:stretch>
        </p:blipFill>
        <p:spPr>
          <a:xfrm>
            <a:off x="7696200" y="15916275"/>
            <a:ext cx="400050" cy="400050"/>
          </a:xfrm>
          <a:prstGeom prst="rect">
            <a:avLst/>
          </a:prstGeom>
        </p:spPr>
      </p:pic>
      <p:sp>
        <p:nvSpPr>
          <p:cNvPr id="134" name="text-95"/>
          <p:cNvSpPr>
            <a:spLocks noGrp="1"/>
          </p:cNvSpPr>
          <p:nvPr/>
        </p:nvSpPr>
        <p:spPr>
          <a:xfrm>
            <a:off x="8229600" y="15954375"/>
            <a:ext cx="4629150" cy="38100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Toxicity</a:t>
            </a:r>
          </a:p>
        </p:txBody>
      </p:sp>
      <p:sp>
        <p:nvSpPr>
          <p:cNvPr id="135" name="text-96"/>
          <p:cNvSpPr>
            <a:spLocks noGrp="1"/>
          </p:cNvSpPr>
          <p:nvPr/>
        </p:nvSpPr>
        <p:spPr>
          <a:xfrm>
            <a:off x="7705725" y="16402050"/>
            <a:ext cx="5114925" cy="5619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0.7 V14 + 0.3 XLM-R logits</a:t>
            </a:r>
          </a:p>
          <a:p>
            <a:pPr algn="l"/>
            <a:r>
              <a:rPr sz="1950" b="0">
                <a:solidFill>
                  <a:srgbClr val="17354B"/>
                </a:solidFill>
                <a:latin typeface="Arial"/>
                <a:ea typeface="Arial"/>
                <a:cs typeface="Arial"/>
              </a:rPr>
              <a:t>Rank: top 673 / 1,000</a:t>
            </a:r>
          </a:p>
        </p:txBody>
      </p:sp>
      <p:sp>
        <p:nvSpPr>
          <p:cNvPr id="136" name="shape-97"/>
          <p:cNvSpPr>
            <a:spLocks noGrp="1"/>
          </p:cNvSpPr>
          <p:nvPr/>
        </p:nvSpPr>
        <p:spPr>
          <a:xfrm>
            <a:off x="7534275" y="17087850"/>
            <a:ext cx="5438775" cy="1200150"/>
          </a:xfrm>
          <a:prstGeom prst="rect">
            <a:avLst/>
          </a:prstGeom>
          <a:solidFill>
            <a:srgbClr val="F1F8FC"/>
          </a:solidFill>
          <a:ln w="19050">
            <a:solidFill>
              <a:srgbClr val="7253B6"/>
            </a:solidFill>
          </a:ln>
        </p:spPr>
        <p:txBody>
          <a:bodyPr/>
          <a:lstStyle/>
          <a:p/>
        </p:txBody>
      </p:sp>
      <p:sp>
        <p:nvSpPr>
          <p:cNvPr id="137" name="shape-98"/>
          <p:cNvSpPr>
            <a:spLocks noGrp="1"/>
          </p:cNvSpPr>
          <p:nvPr/>
        </p:nvSpPr>
        <p:spPr>
          <a:xfrm>
            <a:off x="7534275" y="17087850"/>
            <a:ext cx="57150" cy="1200150"/>
          </a:xfrm>
          <a:prstGeom prst="rect">
            <a:avLst/>
          </a:prstGeom>
          <a:solidFill>
            <a:srgbClr val="7253B6"/>
          </a:solidFill>
          <a:ln w="0">
            <a:noFill/>
          </a:ln>
        </p:spPr>
        <p:txBody>
          <a:bodyPr/>
          <a:lstStyle/>
          <a:p/>
        </p:txBody>
      </p:sp>
      <p:pic>
        <p:nvPicPr>
          <p:cNvPr id="138" name="Picture 137"/>
          <p:cNvPicPr>
            <a:picLocks noChangeAspect="1"/>
          </p:cNvPicPr>
          <p:nvPr/>
        </p:nvPicPr>
        <p:blipFill>
          <a:blip r:embed="rId21"/>
          <a:srcRect/>
          <a:stretch>
            <a:fillRect/>
          </a:stretch>
        </p:blipFill>
        <p:spPr>
          <a:xfrm>
            <a:off x="7696200" y="17192625"/>
            <a:ext cx="400050" cy="400050"/>
          </a:xfrm>
          <a:prstGeom prst="rect">
            <a:avLst/>
          </a:prstGeom>
        </p:spPr>
      </p:pic>
      <p:sp>
        <p:nvSpPr>
          <p:cNvPr id="139" name="text-99"/>
          <p:cNvSpPr>
            <a:spLocks noGrp="1"/>
          </p:cNvSpPr>
          <p:nvPr/>
        </p:nvSpPr>
        <p:spPr>
          <a:xfrm>
            <a:off x="8229600" y="17230725"/>
            <a:ext cx="4629150" cy="381000"/>
          </a:xfrm>
          <a:prstGeom prst="rect">
            <a:avLst/>
          </a:prstGeom>
          <a:noFill/>
          <a:ln w="0">
            <a:noFill/>
          </a:ln>
        </p:spPr>
        <p:txBody>
          <a:bodyPr wrap="square" lIns="0" tIns="0" rIns="0" bIns="0" anchor="t">
            <a:noAutofit/>
          </a:bodyPr>
          <a:lstStyle/>
          <a:p>
            <a:pPr algn="l"/>
            <a:r>
              <a:rPr sz="2025" b="1">
                <a:solidFill>
                  <a:srgbClr val="7253B6"/>
                </a:solidFill>
                <a:latin typeface="Arial"/>
                <a:ea typeface="Arial"/>
                <a:cs typeface="Arial"/>
              </a:rPr>
              <a:t>Implicit toxicity</a:t>
            </a:r>
          </a:p>
        </p:txBody>
      </p:sp>
      <p:sp>
        <p:nvSpPr>
          <p:cNvPr id="140" name="text-100"/>
          <p:cNvSpPr>
            <a:spLocks noGrp="1"/>
          </p:cNvSpPr>
          <p:nvPr/>
        </p:nvSpPr>
        <p:spPr>
          <a:xfrm>
            <a:off x="7705725" y="17678400"/>
            <a:ext cx="5114925" cy="5619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V14 + logistic meta rank</a:t>
            </a:r>
          </a:p>
          <a:p>
            <a:pPr algn="l"/>
            <a:r>
              <a:rPr sz="1950" b="0">
                <a:solidFill>
                  <a:srgbClr val="17354B"/>
                </a:solidFill>
                <a:latin typeface="Arial"/>
                <a:ea typeface="Arial"/>
                <a:cs typeface="Arial"/>
              </a:rPr>
              <a:t>Rank: top 70 / 1,000</a:t>
            </a:r>
          </a:p>
        </p:txBody>
      </p:sp>
      <p:sp>
        <p:nvSpPr>
          <p:cNvPr id="141" name="shape-101"/>
          <p:cNvSpPr>
            <a:spLocks noGrp="1"/>
          </p:cNvSpPr>
          <p:nvPr/>
        </p:nvSpPr>
        <p:spPr>
          <a:xfrm>
            <a:off x="7534275" y="18364200"/>
            <a:ext cx="5438775" cy="1200150"/>
          </a:xfrm>
          <a:prstGeom prst="rect">
            <a:avLst/>
          </a:prstGeom>
          <a:solidFill>
            <a:srgbClr val="F1F8FC"/>
          </a:solidFill>
          <a:ln w="19050">
            <a:solidFill>
              <a:srgbClr val="167DB7"/>
            </a:solidFill>
          </a:ln>
        </p:spPr>
        <p:txBody>
          <a:bodyPr/>
          <a:lstStyle/>
          <a:p/>
        </p:txBody>
      </p:sp>
      <p:sp>
        <p:nvSpPr>
          <p:cNvPr id="142" name="shape-102"/>
          <p:cNvSpPr>
            <a:spLocks noGrp="1"/>
          </p:cNvSpPr>
          <p:nvPr/>
        </p:nvSpPr>
        <p:spPr>
          <a:xfrm>
            <a:off x="7534275" y="18364200"/>
            <a:ext cx="57150" cy="1200150"/>
          </a:xfrm>
          <a:prstGeom prst="rect">
            <a:avLst/>
          </a:prstGeom>
          <a:solidFill>
            <a:srgbClr val="167DB7"/>
          </a:solidFill>
          <a:ln w="0">
            <a:noFill/>
          </a:ln>
        </p:spPr>
        <p:txBody>
          <a:bodyPr/>
          <a:lstStyle/>
          <a:p/>
        </p:txBody>
      </p:sp>
      <p:pic>
        <p:nvPicPr>
          <p:cNvPr id="143" name="Picture 142"/>
          <p:cNvPicPr>
            <a:picLocks noChangeAspect="1"/>
          </p:cNvPicPr>
          <p:nvPr/>
        </p:nvPicPr>
        <p:blipFill>
          <a:blip r:embed="rId22"/>
          <a:srcRect/>
          <a:stretch>
            <a:fillRect/>
          </a:stretch>
        </p:blipFill>
        <p:spPr>
          <a:xfrm>
            <a:off x="7696200" y="18468975"/>
            <a:ext cx="400050" cy="400050"/>
          </a:xfrm>
          <a:prstGeom prst="rect">
            <a:avLst/>
          </a:prstGeom>
        </p:spPr>
      </p:pic>
      <p:sp>
        <p:nvSpPr>
          <p:cNvPr id="144" name="text-103"/>
          <p:cNvSpPr>
            <a:spLocks noGrp="1"/>
          </p:cNvSpPr>
          <p:nvPr/>
        </p:nvSpPr>
        <p:spPr>
          <a:xfrm>
            <a:off x="8229600" y="18507075"/>
            <a:ext cx="4629150" cy="38100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Four baseline labels</a:t>
            </a:r>
          </a:p>
        </p:txBody>
      </p:sp>
      <p:sp>
        <p:nvSpPr>
          <p:cNvPr id="145" name="text-104"/>
          <p:cNvSpPr>
            <a:spLocks noGrp="1"/>
          </p:cNvSpPr>
          <p:nvPr/>
        </p:nvSpPr>
        <p:spPr>
          <a:xfrm>
            <a:off x="7705725" y="18954750"/>
            <a:ext cx="5114925" cy="5619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Sarcasm · profanity · identity · sexual</a:t>
            </a:r>
          </a:p>
          <a:p>
            <a:pPr algn="l"/>
            <a:r>
              <a:rPr sz="1950" b="0">
                <a:solidFill>
                  <a:srgbClr val="17354B"/>
                </a:solidFill>
                <a:latin typeface="Arial"/>
                <a:ea typeface="Arial"/>
                <a:cs typeface="Arial"/>
              </a:rPr>
              <a:t>Per-label blends and thresholds</a:t>
            </a:r>
          </a:p>
        </p:txBody>
      </p:sp>
      <p:sp>
        <p:nvSpPr>
          <p:cNvPr id="146" name="shape-105"/>
          <p:cNvSpPr>
            <a:spLocks noGrp="1"/>
          </p:cNvSpPr>
          <p:nvPr/>
        </p:nvSpPr>
        <p:spPr>
          <a:xfrm>
            <a:off x="7534275" y="19640550"/>
            <a:ext cx="5438775" cy="1200150"/>
          </a:xfrm>
          <a:prstGeom prst="rect">
            <a:avLst/>
          </a:prstGeom>
          <a:solidFill>
            <a:srgbClr val="F1F8FC"/>
          </a:solidFill>
          <a:ln w="19050">
            <a:solidFill>
              <a:srgbClr val="167DB7"/>
            </a:solidFill>
          </a:ln>
        </p:spPr>
        <p:txBody>
          <a:bodyPr/>
          <a:lstStyle/>
          <a:p/>
        </p:txBody>
      </p:sp>
      <p:sp>
        <p:nvSpPr>
          <p:cNvPr id="147" name="shape-106"/>
          <p:cNvSpPr>
            <a:spLocks noGrp="1"/>
          </p:cNvSpPr>
          <p:nvPr/>
        </p:nvSpPr>
        <p:spPr>
          <a:xfrm>
            <a:off x="7534275" y="19640550"/>
            <a:ext cx="57150" cy="1200150"/>
          </a:xfrm>
          <a:prstGeom prst="rect">
            <a:avLst/>
          </a:prstGeom>
          <a:solidFill>
            <a:srgbClr val="167DB7"/>
          </a:solidFill>
          <a:ln w="0">
            <a:noFill/>
          </a:ln>
        </p:spPr>
        <p:txBody>
          <a:bodyPr/>
          <a:lstStyle/>
          <a:p/>
        </p:txBody>
      </p:sp>
      <p:pic>
        <p:nvPicPr>
          <p:cNvPr id="148" name="Picture 147"/>
          <p:cNvPicPr>
            <a:picLocks noChangeAspect="1"/>
          </p:cNvPicPr>
          <p:nvPr/>
        </p:nvPicPr>
        <p:blipFill>
          <a:blip r:embed="rId23"/>
          <a:srcRect/>
          <a:stretch>
            <a:fillRect/>
          </a:stretch>
        </p:blipFill>
        <p:spPr>
          <a:xfrm>
            <a:off x="7696200" y="19745325"/>
            <a:ext cx="400050" cy="400050"/>
          </a:xfrm>
          <a:prstGeom prst="rect">
            <a:avLst/>
          </a:prstGeom>
        </p:spPr>
      </p:pic>
      <p:sp>
        <p:nvSpPr>
          <p:cNvPr id="149" name="text-107"/>
          <p:cNvSpPr>
            <a:spLocks noGrp="1"/>
          </p:cNvSpPr>
          <p:nvPr/>
        </p:nvSpPr>
        <p:spPr>
          <a:xfrm>
            <a:off x="8229600" y="19783425"/>
            <a:ext cx="4629150" cy="381000"/>
          </a:xfrm>
          <a:prstGeom prst="rect">
            <a:avLst/>
          </a:prstGeom>
          <a:noFill/>
          <a:ln w="0">
            <a:noFill/>
          </a:ln>
        </p:spPr>
        <p:txBody>
          <a:bodyPr wrap="square" lIns="0" tIns="0" rIns="0" bIns="0" anchor="t">
            <a:noAutofit/>
          </a:bodyPr>
          <a:lstStyle/>
          <a:p>
            <a:pPr algn="l"/>
            <a:r>
              <a:rPr sz="2025" b="1">
                <a:solidFill>
                  <a:srgbClr val="167DB7"/>
                </a:solidFill>
                <a:latin typeface="Arial"/>
                <a:ea typeface="Arial"/>
                <a:cs typeface="Arial"/>
              </a:rPr>
              <a:t>Threatening</a:t>
            </a:r>
          </a:p>
        </p:txBody>
      </p:sp>
      <p:sp>
        <p:nvSpPr>
          <p:cNvPr id="150" name="text-108"/>
          <p:cNvSpPr>
            <a:spLocks noGrp="1"/>
          </p:cNvSpPr>
          <p:nvPr/>
        </p:nvSpPr>
        <p:spPr>
          <a:xfrm>
            <a:off x="7705725" y="20231100"/>
            <a:ext cx="5114925" cy="561975"/>
          </a:xfrm>
          <a:prstGeom prst="rect">
            <a:avLst/>
          </a:prstGeom>
          <a:noFill/>
          <a:ln w="0">
            <a:noFill/>
          </a:ln>
        </p:spPr>
        <p:txBody>
          <a:bodyPr wrap="square" lIns="0" tIns="0" rIns="0" bIns="0" anchor="t">
            <a:noAutofit/>
          </a:bodyPr>
          <a:lstStyle/>
          <a:p>
            <a:pPr algn="l"/>
            <a:r>
              <a:rPr sz="1950" b="0">
                <a:solidFill>
                  <a:srgbClr val="17354B"/>
                </a:solidFill>
                <a:latin typeface="Arial"/>
                <a:ea typeface="Arial"/>
                <a:cs typeface="Arial"/>
              </a:rPr>
              <a:t>BGE + LR</a:t>
            </a:r>
          </a:p>
          <a:p>
            <a:pPr algn="l"/>
            <a:r>
              <a:rPr sz="1950" b="0">
                <a:solidFill>
                  <a:srgbClr val="17354B"/>
                </a:solidFill>
                <a:latin typeface="Arial"/>
                <a:ea typeface="Arial"/>
                <a:cs typeface="Arial"/>
              </a:rPr>
              <a:t>Rank: top 32 / 1,000</a:t>
            </a:r>
          </a:p>
        </p:txBody>
      </p:sp>
      <p:sp>
        <p:nvSpPr>
          <p:cNvPr id="151" name="Line 150"/>
          <p:cNvSpPr>
            <a:spLocks noGrp="1"/>
          </p:cNvSpPr>
          <p:nvPr/>
        </p:nvSpPr>
        <p:spPr>
          <a:xfrm>
            <a:off x="6829425" y="16211550"/>
            <a:ext cx="571500" cy="0"/>
          </a:xfrm>
          <a:prstGeom prst="line">
            <a:avLst/>
          </a:prstGeom>
          <a:noFill/>
          <a:ln w="28575">
            <a:solidFill>
              <a:srgbClr val="167DB7"/>
            </a:solidFill>
          </a:ln>
        </p:spPr>
        <p:txBody>
          <a:bodyPr/>
          <a:lstStyle/>
          <a:p/>
        </p:txBody>
      </p:sp>
      <p:sp>
        <p:nvSpPr>
          <p:cNvPr id="152" name="Right Arrow 151"/>
          <p:cNvSpPr>
            <a:spLocks noGrp="1"/>
          </p:cNvSpPr>
          <p:nvPr/>
        </p:nvSpPr>
        <p:spPr>
          <a:xfrm>
            <a:off x="7362825" y="16144875"/>
            <a:ext cx="171450" cy="133350"/>
          </a:xfrm>
          <a:prstGeom prst="rightArrow">
            <a:avLst/>
          </a:prstGeom>
          <a:solidFill>
            <a:srgbClr val="167DB7"/>
          </a:solidFill>
          <a:ln w="0">
            <a:noFill/>
          </a:ln>
        </p:spPr>
        <p:txBody>
          <a:bodyPr/>
          <a:lstStyle/>
          <a:p/>
        </p:txBody>
      </p:sp>
      <p:sp>
        <p:nvSpPr>
          <p:cNvPr id="153" name="Line 152"/>
          <p:cNvSpPr>
            <a:spLocks noGrp="1"/>
          </p:cNvSpPr>
          <p:nvPr/>
        </p:nvSpPr>
        <p:spPr>
          <a:xfrm>
            <a:off x="7010400" y="16211550"/>
            <a:ext cx="0" cy="2686050"/>
          </a:xfrm>
          <a:prstGeom prst="line">
            <a:avLst/>
          </a:prstGeom>
          <a:noFill/>
          <a:ln w="19050">
            <a:solidFill>
              <a:srgbClr val="167DB7"/>
            </a:solidFill>
          </a:ln>
        </p:spPr>
        <p:txBody>
          <a:bodyPr/>
          <a:lstStyle/>
          <a:p/>
        </p:txBody>
      </p:sp>
      <p:sp>
        <p:nvSpPr>
          <p:cNvPr id="154" name="Line 153"/>
          <p:cNvSpPr>
            <a:spLocks noGrp="1"/>
          </p:cNvSpPr>
          <p:nvPr/>
        </p:nvSpPr>
        <p:spPr>
          <a:xfrm>
            <a:off x="7010400" y="17564100"/>
            <a:ext cx="390525" cy="0"/>
          </a:xfrm>
          <a:prstGeom prst="line">
            <a:avLst/>
          </a:prstGeom>
          <a:noFill/>
          <a:ln w="28575">
            <a:solidFill>
              <a:srgbClr val="167DB7"/>
            </a:solidFill>
          </a:ln>
        </p:spPr>
        <p:txBody>
          <a:bodyPr/>
          <a:lstStyle/>
          <a:p/>
        </p:txBody>
      </p:sp>
      <p:sp>
        <p:nvSpPr>
          <p:cNvPr id="155" name="Right Arrow 154"/>
          <p:cNvSpPr>
            <a:spLocks noGrp="1"/>
          </p:cNvSpPr>
          <p:nvPr/>
        </p:nvSpPr>
        <p:spPr>
          <a:xfrm>
            <a:off x="7362825" y="17497425"/>
            <a:ext cx="171450" cy="133350"/>
          </a:xfrm>
          <a:prstGeom prst="rightArrow">
            <a:avLst/>
          </a:prstGeom>
          <a:solidFill>
            <a:srgbClr val="167DB7"/>
          </a:solidFill>
          <a:ln w="0">
            <a:noFill/>
          </a:ln>
        </p:spPr>
        <p:txBody>
          <a:bodyPr/>
          <a:lstStyle/>
          <a:p/>
        </p:txBody>
      </p:sp>
      <p:sp>
        <p:nvSpPr>
          <p:cNvPr id="156" name="Line 155"/>
          <p:cNvSpPr>
            <a:spLocks noGrp="1"/>
          </p:cNvSpPr>
          <p:nvPr/>
        </p:nvSpPr>
        <p:spPr>
          <a:xfrm>
            <a:off x="7010400" y="18897600"/>
            <a:ext cx="390525" cy="0"/>
          </a:xfrm>
          <a:prstGeom prst="line">
            <a:avLst/>
          </a:prstGeom>
          <a:noFill/>
          <a:ln w="28575">
            <a:solidFill>
              <a:srgbClr val="167DB7"/>
            </a:solidFill>
          </a:ln>
        </p:spPr>
        <p:txBody>
          <a:bodyPr/>
          <a:lstStyle/>
          <a:p/>
        </p:txBody>
      </p:sp>
      <p:sp>
        <p:nvSpPr>
          <p:cNvPr id="157" name="Right Arrow 156"/>
          <p:cNvSpPr>
            <a:spLocks noGrp="1"/>
          </p:cNvSpPr>
          <p:nvPr/>
        </p:nvSpPr>
        <p:spPr>
          <a:xfrm>
            <a:off x="7362825" y="18830925"/>
            <a:ext cx="171450" cy="133350"/>
          </a:xfrm>
          <a:prstGeom prst="rightArrow">
            <a:avLst/>
          </a:prstGeom>
          <a:solidFill>
            <a:srgbClr val="167DB7"/>
          </a:solidFill>
          <a:ln w="0">
            <a:noFill/>
          </a:ln>
        </p:spPr>
        <p:txBody>
          <a:bodyPr/>
          <a:lstStyle/>
          <a:p/>
        </p:txBody>
      </p:sp>
      <p:sp>
        <p:nvSpPr>
          <p:cNvPr id="158" name="Line 157"/>
          <p:cNvSpPr>
            <a:spLocks noGrp="1"/>
          </p:cNvSpPr>
          <p:nvPr/>
        </p:nvSpPr>
        <p:spPr>
          <a:xfrm>
            <a:off x="6829425" y="18354675"/>
            <a:ext cx="447675" cy="0"/>
          </a:xfrm>
          <a:prstGeom prst="line">
            <a:avLst/>
          </a:prstGeom>
          <a:noFill/>
          <a:ln w="19050">
            <a:solidFill>
              <a:srgbClr val="7253B6"/>
            </a:solidFill>
          </a:ln>
        </p:spPr>
        <p:txBody>
          <a:bodyPr/>
          <a:lstStyle/>
          <a:p/>
        </p:txBody>
      </p:sp>
      <p:sp>
        <p:nvSpPr>
          <p:cNvPr id="159" name="Line 158"/>
          <p:cNvSpPr>
            <a:spLocks noGrp="1"/>
          </p:cNvSpPr>
          <p:nvPr/>
        </p:nvSpPr>
        <p:spPr>
          <a:xfrm>
            <a:off x="7277100" y="16363950"/>
            <a:ext cx="0" cy="1990725"/>
          </a:xfrm>
          <a:prstGeom prst="line">
            <a:avLst/>
          </a:prstGeom>
          <a:noFill/>
          <a:ln w="19050">
            <a:solidFill>
              <a:srgbClr val="7253B6"/>
            </a:solidFill>
          </a:ln>
        </p:spPr>
        <p:txBody>
          <a:bodyPr/>
          <a:lstStyle/>
          <a:p/>
        </p:txBody>
      </p:sp>
      <p:sp>
        <p:nvSpPr>
          <p:cNvPr id="160" name="Line 159"/>
          <p:cNvSpPr>
            <a:spLocks noGrp="1"/>
          </p:cNvSpPr>
          <p:nvPr/>
        </p:nvSpPr>
        <p:spPr>
          <a:xfrm>
            <a:off x="7277100" y="16363950"/>
            <a:ext cx="123825" cy="0"/>
          </a:xfrm>
          <a:prstGeom prst="line">
            <a:avLst/>
          </a:prstGeom>
          <a:noFill/>
          <a:ln w="28575">
            <a:solidFill>
              <a:srgbClr val="7253B6"/>
            </a:solidFill>
          </a:ln>
        </p:spPr>
        <p:txBody>
          <a:bodyPr/>
          <a:lstStyle/>
          <a:p/>
        </p:txBody>
      </p:sp>
      <p:sp>
        <p:nvSpPr>
          <p:cNvPr id="161" name="Right Arrow 160"/>
          <p:cNvSpPr>
            <a:spLocks noGrp="1"/>
          </p:cNvSpPr>
          <p:nvPr/>
        </p:nvSpPr>
        <p:spPr>
          <a:xfrm>
            <a:off x="7362825" y="16297275"/>
            <a:ext cx="171450" cy="133350"/>
          </a:xfrm>
          <a:prstGeom prst="rightArrow">
            <a:avLst/>
          </a:prstGeom>
          <a:solidFill>
            <a:srgbClr val="7253B6"/>
          </a:solidFill>
          <a:ln w="0">
            <a:noFill/>
          </a:ln>
        </p:spPr>
        <p:txBody>
          <a:bodyPr/>
          <a:lstStyle/>
          <a:p/>
        </p:txBody>
      </p:sp>
      <p:sp>
        <p:nvSpPr>
          <p:cNvPr id="162" name="Line 161"/>
          <p:cNvSpPr>
            <a:spLocks noGrp="1"/>
          </p:cNvSpPr>
          <p:nvPr/>
        </p:nvSpPr>
        <p:spPr>
          <a:xfrm>
            <a:off x="6829425" y="20173950"/>
            <a:ext cx="571500" cy="0"/>
          </a:xfrm>
          <a:prstGeom prst="line">
            <a:avLst/>
          </a:prstGeom>
          <a:noFill/>
          <a:ln w="28575">
            <a:solidFill>
              <a:srgbClr val="167DB7"/>
            </a:solidFill>
          </a:ln>
        </p:spPr>
        <p:txBody>
          <a:bodyPr/>
          <a:lstStyle/>
          <a:p/>
        </p:txBody>
      </p:sp>
      <p:sp>
        <p:nvSpPr>
          <p:cNvPr id="163" name="Right Arrow 162"/>
          <p:cNvSpPr>
            <a:spLocks noGrp="1"/>
          </p:cNvSpPr>
          <p:nvPr/>
        </p:nvSpPr>
        <p:spPr>
          <a:xfrm>
            <a:off x="7362825" y="20107275"/>
            <a:ext cx="171450" cy="133350"/>
          </a:xfrm>
          <a:prstGeom prst="rightArrow">
            <a:avLst/>
          </a:prstGeom>
          <a:solidFill>
            <a:srgbClr val="167DB7"/>
          </a:solidFill>
          <a:ln w="0">
            <a:noFill/>
          </a:ln>
        </p:spPr>
        <p:txBody>
          <a:bodyPr/>
          <a:lstStyle/>
          <a:p/>
        </p:txBody>
      </p:sp>
      <p:sp>
        <p:nvSpPr>
          <p:cNvPr id="164" name="shape-109"/>
          <p:cNvSpPr>
            <a:spLocks noGrp="1"/>
          </p:cNvSpPr>
          <p:nvPr/>
        </p:nvSpPr>
        <p:spPr>
          <a:xfrm>
            <a:off x="13468350" y="14535150"/>
            <a:ext cx="7344150" cy="6572250"/>
          </a:xfrm>
          <a:prstGeom prst="rect">
            <a:avLst/>
          </a:prstGeom>
          <a:solidFill>
            <a:srgbClr val="FFFFFF"/>
          </a:solidFill>
          <a:ln w="14288">
            <a:solidFill>
              <a:srgbClr val="B6D7E1"/>
            </a:solidFill>
          </a:ln>
        </p:spPr>
        <p:txBody>
          <a:bodyPr/>
          <a:lstStyle/>
          <a:p/>
        </p:txBody>
      </p:sp>
      <p:sp>
        <p:nvSpPr>
          <p:cNvPr id="165" name="shape-110"/>
          <p:cNvSpPr>
            <a:spLocks noGrp="1"/>
          </p:cNvSpPr>
          <p:nvPr/>
        </p:nvSpPr>
        <p:spPr>
          <a:xfrm>
            <a:off x="13468350" y="14535150"/>
            <a:ext cx="7344150" cy="552450"/>
          </a:xfrm>
          <a:prstGeom prst="rect">
            <a:avLst/>
          </a:prstGeom>
          <a:solidFill>
            <a:srgbClr val="071F36"/>
          </a:solidFill>
          <a:ln w="0">
            <a:noFill/>
          </a:ln>
        </p:spPr>
        <p:txBody>
          <a:bodyPr/>
          <a:lstStyle/>
          <a:p/>
        </p:txBody>
      </p:sp>
      <p:sp>
        <p:nvSpPr>
          <p:cNvPr id="166" name="shape-111"/>
          <p:cNvSpPr>
            <a:spLocks noGrp="1"/>
          </p:cNvSpPr>
          <p:nvPr/>
        </p:nvSpPr>
        <p:spPr>
          <a:xfrm>
            <a:off x="13468350" y="14535150"/>
            <a:ext cx="66675" cy="552450"/>
          </a:xfrm>
          <a:prstGeom prst="rect">
            <a:avLst/>
          </a:prstGeom>
          <a:solidFill>
            <a:srgbClr val="00ACC7"/>
          </a:solidFill>
          <a:ln w="0">
            <a:noFill/>
          </a:ln>
        </p:spPr>
        <p:txBody>
          <a:bodyPr/>
          <a:lstStyle/>
          <a:p/>
        </p:txBody>
      </p:sp>
      <p:pic>
        <p:nvPicPr>
          <p:cNvPr id="167" name="Picture 166"/>
          <p:cNvPicPr>
            <a:picLocks noChangeAspect="1"/>
          </p:cNvPicPr>
          <p:nvPr/>
        </p:nvPicPr>
        <p:blipFill>
          <a:blip r:embed="rId24"/>
          <a:srcRect/>
          <a:stretch>
            <a:fillRect/>
          </a:stretch>
        </p:blipFill>
        <p:spPr>
          <a:xfrm>
            <a:off x="13677900" y="14639925"/>
            <a:ext cx="352425" cy="352425"/>
          </a:xfrm>
          <a:prstGeom prst="rect">
            <a:avLst/>
          </a:prstGeom>
        </p:spPr>
      </p:pic>
      <p:sp>
        <p:nvSpPr>
          <p:cNvPr id="168" name="text-112"/>
          <p:cNvSpPr>
            <a:spLocks noGrp="1"/>
          </p:cNvSpPr>
          <p:nvPr/>
        </p:nvSpPr>
        <p:spPr>
          <a:xfrm>
            <a:off x="14211300" y="14620875"/>
            <a:ext cx="6429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Experimental Setup</a:t>
            </a:r>
          </a:p>
        </p:txBody>
      </p:sp>
      <p:graphicFrame>
        <p:nvGraphicFramePr>
          <p:cNvPr id="169" name="Table 168"/>
          <p:cNvGraphicFramePr/>
          <p:nvPr/>
        </p:nvGraphicFramePr>
        <p:xfrm>
          <a:off x="13696950" y="15278100"/>
          <a:ext cx="6886950" cy="3590923"/>
        </p:xfrm>
        <a:graphic>
          <a:graphicData uri="http://schemas.openxmlformats.org/drawingml/2006/table">
            <a:tbl>
              <a:tblPr/>
              <a:tblGrid>
                <a:gridCol w="3286125"/>
                <a:gridCol w="3600825"/>
              </a:tblGrid>
              <a:tr h="512989">
                <a:tc>
                  <a:txBody>
                    <a:bodyPr lIns="76200" tIns="28575" rIns="66675" bIns="28575"/>
                    <a:lstStyle/>
                    <a:p>
                      <a:r>
                        <a:rPr sz="2100" b="1">
                          <a:solidFill>
                            <a:srgbClr val="071F36"/>
                          </a:solidFill>
                          <a:latin typeface="Arial"/>
                          <a:ea typeface="Arial"/>
                          <a:cs typeface="Arial"/>
                        </a:rPr>
                        <a:t>V35 component</a:t>
                      </a:r>
                    </a:p>
                  </a:txBody>
                  <a:tcPr marL="76200" marR="66675" marT="28575" marB="28575">
                    <a:solidFill>
                      <a:srgbClr val="EDF8FC"/>
                    </a:solidFill>
                  </a:tcPr>
                </a:tc>
                <a:tc>
                  <a:txBody>
                    <a:bodyPr lIns="76200" tIns="28575" rIns="66675" bIns="28575"/>
                    <a:lstStyle/>
                    <a:p>
                      <a:r>
                        <a:rPr sz="2100" b="1">
                          <a:solidFill>
                            <a:srgbClr val="071F36"/>
                          </a:solidFill>
                          <a:latin typeface="Arial"/>
                          <a:ea typeface="Arial"/>
                          <a:cs typeface="Arial"/>
                        </a:rPr>
                        <a:t>Configuration</a:t>
                      </a:r>
                    </a:p>
                  </a:txBody>
                  <a:tcPr marL="76200" marR="66675" marT="28575" marB="28575">
                    <a:solidFill>
                      <a:srgbClr val="EDF8FC"/>
                    </a:solidFill>
                  </a:tcPr>
                </a:tc>
              </a:tr>
              <a:tr h="512989">
                <a:tc>
                  <a:txBody>
                    <a:bodyPr lIns="76200" tIns="28575" rIns="66675" bIns="28575"/>
                    <a:lstStyle/>
                    <a:p>
                      <a:r>
                        <a:rPr sz="2100">
                          <a:solidFill>
                            <a:srgbClr val="17354B"/>
                          </a:solidFill>
                          <a:latin typeface="Arial"/>
                          <a:ea typeface="Arial"/>
                          <a:cs typeface="Arial"/>
                        </a:rPr>
                        <a:t>Sequence / epochs</a:t>
                      </a:r>
                    </a:p>
                  </a:txBody>
                  <a:tcPr marL="76200" marR="66675" marT="28575" marB="28575">
                    <a:solidFill>
                      <a:srgbClr val="FFFFFF"/>
                    </a:solidFill>
                  </a:tcPr>
                </a:tc>
                <a:tc>
                  <a:txBody>
                    <a:bodyPr lIns="76200" tIns="28575" rIns="66675" bIns="28575"/>
                    <a:lstStyle/>
                    <a:p>
                      <a:r>
                        <a:rPr sz="2100">
                          <a:solidFill>
                            <a:srgbClr val="17354B"/>
                          </a:solidFill>
                          <a:latin typeface="Arial"/>
                          <a:ea typeface="Arial"/>
                          <a:cs typeface="Arial"/>
                        </a:rPr>
                        <a:t>128 / 3</a:t>
                      </a:r>
                    </a:p>
                  </a:txBody>
                  <a:tcPr marL="76200" marR="66675" marT="28575" marB="28575">
                    <a:solidFill>
                      <a:srgbClr val="FFFFFF"/>
                    </a:solidFill>
                  </a:tcPr>
                </a:tc>
              </a:tr>
              <a:tr h="512989">
                <a:tc>
                  <a:txBody>
                    <a:bodyPr lIns="76200" tIns="28575" rIns="66675" bIns="28575"/>
                    <a:lstStyle/>
                    <a:p>
                      <a:r>
                        <a:rPr sz="2100">
                          <a:solidFill>
                            <a:srgbClr val="17354B"/>
                          </a:solidFill>
                          <a:latin typeface="Arial"/>
                          <a:ea typeface="Arial"/>
                          <a:cs typeface="Arial"/>
                        </a:rPr>
                        <a:t>Folds / snapshots</a:t>
                      </a:r>
                    </a:p>
                  </a:txBody>
                  <a:tcPr marL="76200" marR="66675" marT="28575" marB="28575">
                    <a:solidFill>
                      <a:srgbClr val="FFFFFF"/>
                    </a:solidFill>
                  </a:tcPr>
                </a:tc>
                <a:tc>
                  <a:txBody>
                    <a:bodyPr lIns="76200" tIns="28575" rIns="66675" bIns="28575"/>
                    <a:lstStyle/>
                    <a:p>
                      <a:r>
                        <a:rPr sz="2100">
                          <a:solidFill>
                            <a:srgbClr val="17354B"/>
                          </a:solidFill>
                          <a:latin typeface="Arial"/>
                          <a:ea typeface="Arial"/>
                          <a:cs typeface="Arial"/>
                        </a:rPr>
                        <a:t>5 / epochs 2, 3</a:t>
                      </a:r>
                    </a:p>
                  </a:txBody>
                  <a:tcPr marL="76200" marR="66675" marT="28575" marB="28575">
                    <a:solidFill>
                      <a:srgbClr val="FFFFFF"/>
                    </a:solidFill>
                  </a:tcPr>
                </a:tc>
              </a:tr>
              <a:tr h="512989">
                <a:tc>
                  <a:txBody>
                    <a:bodyPr lIns="76200" tIns="28575" rIns="66675" bIns="28575"/>
                    <a:lstStyle/>
                    <a:p>
                      <a:r>
                        <a:rPr sz="2100">
                          <a:solidFill>
                            <a:srgbClr val="17354B"/>
                          </a:solidFill>
                          <a:latin typeface="Arial"/>
                          <a:ea typeface="Arial"/>
                          <a:cs typeface="Arial"/>
                        </a:rPr>
                        <a:t>Batch / accumulation</a:t>
                      </a:r>
                    </a:p>
                  </a:txBody>
                  <a:tcPr marL="76200" marR="66675" marT="28575" marB="28575">
                    <a:solidFill>
                      <a:srgbClr val="FFFFFF"/>
                    </a:solidFill>
                  </a:tcPr>
                </a:tc>
                <a:tc>
                  <a:txBody>
                    <a:bodyPr lIns="76200" tIns="28575" rIns="66675" bIns="28575"/>
                    <a:lstStyle/>
                    <a:p>
                      <a:r>
                        <a:rPr sz="2100">
                          <a:solidFill>
                            <a:srgbClr val="17354B"/>
                          </a:solidFill>
                          <a:latin typeface="Arial"/>
                          <a:ea typeface="Arial"/>
                          <a:cs typeface="Arial"/>
                        </a:rPr>
                        <a:t>4 / 4</a:t>
                      </a:r>
                    </a:p>
                  </a:txBody>
                  <a:tcPr marL="76200" marR="66675" marT="28575" marB="28575">
                    <a:solidFill>
                      <a:srgbClr val="FFFFFF"/>
                    </a:solidFill>
                  </a:tcPr>
                </a:tc>
              </a:tr>
              <a:tr h="512989">
                <a:tc>
                  <a:txBody>
                    <a:bodyPr lIns="76200" tIns="28575" rIns="66675" bIns="28575"/>
                    <a:lstStyle/>
                    <a:p>
                      <a:r>
                        <a:rPr sz="2100">
                          <a:solidFill>
                            <a:srgbClr val="17354B"/>
                          </a:solidFill>
                          <a:latin typeface="Arial"/>
                          <a:ea typeface="Arial"/>
                          <a:cs typeface="Arial"/>
                        </a:rPr>
                        <a:t>Backbone / head LR</a:t>
                      </a:r>
                    </a:p>
                  </a:txBody>
                  <a:tcPr marL="76200" marR="66675" marT="28575" marB="28575">
                    <a:solidFill>
                      <a:srgbClr val="FFFFFF"/>
                    </a:solidFill>
                  </a:tcPr>
                </a:tc>
                <a:tc>
                  <a:txBody>
                    <a:bodyPr lIns="76200" tIns="28575" rIns="66675" bIns="28575"/>
                    <a:lstStyle/>
                    <a:p>
                      <a:r>
                        <a:rPr sz="2100">
                          <a:solidFill>
                            <a:srgbClr val="17354B"/>
                          </a:solidFill>
                          <a:latin typeface="Arial"/>
                          <a:ea typeface="Arial"/>
                          <a:cs typeface="Arial"/>
                        </a:rPr>
                        <a:t>1.2e-5 / 2.5e-5</a:t>
                      </a:r>
                    </a:p>
                  </a:txBody>
                  <a:tcPr marL="76200" marR="66675" marT="28575" marB="28575">
                    <a:solidFill>
                      <a:srgbClr val="FFFFFF"/>
                    </a:solidFill>
                  </a:tcPr>
                </a:tc>
              </a:tr>
              <a:tr h="512989">
                <a:tc>
                  <a:txBody>
                    <a:bodyPr lIns="76200" tIns="28575" rIns="66675" bIns="28575"/>
                    <a:lstStyle/>
                    <a:p>
                      <a:r>
                        <a:rPr sz="2100">
                          <a:solidFill>
                            <a:srgbClr val="17354B"/>
                          </a:solidFill>
                          <a:latin typeface="Arial"/>
                          <a:ea typeface="Arial"/>
                          <a:cs typeface="Arial"/>
                        </a:rPr>
                        <a:t>Loss</a:t>
                      </a:r>
                    </a:p>
                  </a:txBody>
                  <a:tcPr marL="76200" marR="66675" marT="28575" marB="28575">
                    <a:solidFill>
                      <a:srgbClr val="FFFFFF"/>
                    </a:solidFill>
                  </a:tcPr>
                </a:tc>
                <a:tc>
                  <a:txBody>
                    <a:bodyPr lIns="76200" tIns="28575" rIns="66675" bIns="28575"/>
                    <a:lstStyle/>
                    <a:p>
                      <a:r>
                        <a:rPr sz="2100">
                          <a:solidFill>
                            <a:srgbClr val="17354B"/>
                          </a:solidFill>
                          <a:latin typeface="Arial"/>
                          <a:ea typeface="Arial"/>
                          <a:cs typeface="Arial"/>
                        </a:rPr>
                        <a:t>Weighted BCE</a:t>
                      </a:r>
                    </a:p>
                  </a:txBody>
                  <a:tcPr marL="76200" marR="66675" marT="28575" marB="28575">
                    <a:solidFill>
                      <a:srgbClr val="FFFFFF"/>
                    </a:solidFill>
                  </a:tcPr>
                </a:tc>
              </a:tr>
              <a:tr h="512989">
                <a:tc>
                  <a:txBody>
                    <a:bodyPr lIns="76200" tIns="28575" rIns="66675" bIns="28575"/>
                    <a:lstStyle/>
                    <a:p>
                      <a:r>
                        <a:rPr sz="2100">
                          <a:solidFill>
                            <a:srgbClr val="17354B"/>
                          </a:solidFill>
                          <a:latin typeface="Arial"/>
                          <a:ea typeface="Arial"/>
                          <a:cs typeface="Arial"/>
                        </a:rPr>
                        <a:t>BGE classifier</a:t>
                      </a:r>
                    </a:p>
                  </a:txBody>
                  <a:tcPr marL="76200" marR="66675" marT="28575" marB="28575">
                    <a:solidFill>
                      <a:srgbClr val="FFFFFF"/>
                    </a:solidFill>
                  </a:tcPr>
                </a:tc>
                <a:tc>
                  <a:txBody>
                    <a:bodyPr lIns="76200" tIns="28575" rIns="66675" bIns="28575"/>
                    <a:lstStyle/>
                    <a:p>
                      <a:r>
                        <a:rPr sz="2100">
                          <a:solidFill>
                            <a:srgbClr val="17354B"/>
                          </a:solidFill>
                          <a:latin typeface="Arial"/>
                          <a:ea typeface="Arial"/>
                          <a:cs typeface="Arial"/>
                        </a:rPr>
                        <a:t>LR; C = 0.35</a:t>
                      </a:r>
                    </a:p>
                  </a:txBody>
                  <a:tcPr marL="76200" marR="66675" marT="28575" marB="28575">
                    <a:solidFill>
                      <a:srgbClr val="FFFFFF"/>
                    </a:solidFill>
                  </a:tcPr>
                </a:tc>
              </a:tr>
            </a:tbl>
          </a:graphicData>
        </a:graphic>
      </p:graphicFrame>
      <p:sp>
        <p:nvSpPr>
          <p:cNvPr id="170" name="text-113"/>
          <p:cNvSpPr>
            <a:spLocks noGrp="1"/>
          </p:cNvSpPr>
          <p:nvPr/>
        </p:nvSpPr>
        <p:spPr>
          <a:xfrm>
            <a:off x="13716000" y="19069050"/>
            <a:ext cx="6572250" cy="381000"/>
          </a:xfrm>
          <a:prstGeom prst="rect">
            <a:avLst/>
          </a:prstGeom>
          <a:noFill/>
          <a:ln w="0">
            <a:noFill/>
          </a:ln>
        </p:spPr>
        <p:txBody>
          <a:bodyPr wrap="square" lIns="0" tIns="0" rIns="0" bIns="0" anchor="t">
            <a:noAutofit/>
          </a:bodyPr>
          <a:lstStyle/>
          <a:p>
            <a:pPr algn="l"/>
            <a:r>
              <a:rPr sz="2325" b="1">
                <a:solidFill>
                  <a:srgbClr val="071F36"/>
                </a:solidFill>
                <a:latin typeface="Arial"/>
                <a:ea typeface="Arial"/>
                <a:cs typeface="Arial"/>
              </a:rPr>
              <a:t>5.3 Evaluation Plan</a:t>
            </a:r>
          </a:p>
        </p:txBody>
      </p:sp>
      <p:sp>
        <p:nvSpPr>
          <p:cNvPr id="171" name="shape-114"/>
          <p:cNvSpPr>
            <a:spLocks noGrp="1"/>
          </p:cNvSpPr>
          <p:nvPr/>
        </p:nvSpPr>
        <p:spPr>
          <a:xfrm>
            <a:off x="13716000" y="19516725"/>
            <a:ext cx="2076450" cy="1466850"/>
          </a:xfrm>
          <a:prstGeom prst="rect">
            <a:avLst/>
          </a:prstGeom>
          <a:solidFill>
            <a:srgbClr val="EDF8FC"/>
          </a:solidFill>
          <a:ln w="9525">
            <a:solidFill>
              <a:srgbClr val="B6D7E1"/>
            </a:solidFill>
          </a:ln>
        </p:spPr>
        <p:txBody>
          <a:bodyPr/>
          <a:lstStyle/>
          <a:p/>
        </p:txBody>
      </p:sp>
      <p:pic>
        <p:nvPicPr>
          <p:cNvPr id="172" name="Picture 171"/>
          <p:cNvPicPr>
            <a:picLocks noChangeAspect="1"/>
          </p:cNvPicPr>
          <p:nvPr/>
        </p:nvPicPr>
        <p:blipFill>
          <a:blip r:embed="rId25"/>
          <a:srcRect/>
          <a:stretch>
            <a:fillRect/>
          </a:stretch>
        </p:blipFill>
        <p:spPr>
          <a:xfrm>
            <a:off x="14554200" y="19631025"/>
            <a:ext cx="400050" cy="400050"/>
          </a:xfrm>
          <a:prstGeom prst="rect">
            <a:avLst/>
          </a:prstGeom>
        </p:spPr>
      </p:pic>
      <p:sp>
        <p:nvSpPr>
          <p:cNvPr id="173" name="text-115"/>
          <p:cNvSpPr>
            <a:spLocks noGrp="1"/>
          </p:cNvSpPr>
          <p:nvPr/>
        </p:nvSpPr>
        <p:spPr>
          <a:xfrm>
            <a:off x="13763625" y="20126325"/>
            <a:ext cx="1981200" cy="314325"/>
          </a:xfrm>
          <a:prstGeom prst="rect">
            <a:avLst/>
          </a:prstGeom>
          <a:noFill/>
          <a:ln w="0">
            <a:noFill/>
          </a:ln>
        </p:spPr>
        <p:txBody>
          <a:bodyPr wrap="square" lIns="0" tIns="0" rIns="0" bIns="0" anchor="t">
            <a:noAutofit/>
          </a:bodyPr>
          <a:lstStyle/>
          <a:p>
            <a:pPr algn="ctr"/>
            <a:r>
              <a:rPr sz="1875" b="1">
                <a:solidFill>
                  <a:srgbClr val="071F36"/>
                </a:solidFill>
                <a:latin typeface="Arial"/>
                <a:ea typeface="Arial"/>
                <a:cs typeface="Arial"/>
              </a:rPr>
              <a:t>Grouped split</a:t>
            </a:r>
          </a:p>
        </p:txBody>
      </p:sp>
      <p:sp>
        <p:nvSpPr>
          <p:cNvPr id="174" name="text-116"/>
          <p:cNvSpPr>
            <a:spLocks noGrp="1"/>
          </p:cNvSpPr>
          <p:nvPr/>
        </p:nvSpPr>
        <p:spPr>
          <a:xfrm>
            <a:off x="13763625" y="20488275"/>
            <a:ext cx="1981200" cy="495300"/>
          </a:xfrm>
          <a:prstGeom prst="rect">
            <a:avLst/>
          </a:prstGeom>
          <a:noFill/>
          <a:ln w="0">
            <a:noFill/>
          </a:ln>
        </p:spPr>
        <p:txBody>
          <a:bodyPr wrap="square" lIns="0" tIns="0" rIns="0" bIns="0" anchor="t">
            <a:noAutofit/>
          </a:bodyPr>
          <a:lstStyle/>
          <a:p>
            <a:pPr algn="ctr"/>
            <a:r>
              <a:rPr sz="1650" b="0">
                <a:solidFill>
                  <a:srgbClr val="486174"/>
                </a:solidFill>
                <a:latin typeface="Arial"/>
                <a:ea typeface="Arial"/>
                <a:cs typeface="Arial"/>
              </a:rPr>
              <a:t>Keep duplicates</a:t>
            </a:r>
          </a:p>
          <a:p>
            <a:pPr algn="ctr"/>
            <a:r>
              <a:rPr sz="1650" b="0">
                <a:solidFill>
                  <a:srgbClr val="486174"/>
                </a:solidFill>
                <a:latin typeface="Arial"/>
                <a:ea typeface="Arial"/>
                <a:cs typeface="Arial"/>
              </a:rPr>
              <a:t>together</a:t>
            </a:r>
          </a:p>
        </p:txBody>
      </p:sp>
      <p:sp>
        <p:nvSpPr>
          <p:cNvPr id="175" name="Line 174"/>
          <p:cNvSpPr>
            <a:spLocks noGrp="1"/>
          </p:cNvSpPr>
          <p:nvPr/>
        </p:nvSpPr>
        <p:spPr>
          <a:xfrm>
            <a:off x="15792450" y="19831050"/>
            <a:ext cx="76200" cy="0"/>
          </a:xfrm>
          <a:prstGeom prst="line">
            <a:avLst/>
          </a:prstGeom>
          <a:noFill/>
          <a:ln w="28575">
            <a:solidFill>
              <a:srgbClr val="00ACC7"/>
            </a:solidFill>
          </a:ln>
        </p:spPr>
        <p:txBody>
          <a:bodyPr/>
          <a:lstStyle/>
          <a:p/>
        </p:txBody>
      </p:sp>
      <p:sp>
        <p:nvSpPr>
          <p:cNvPr id="176" name="Right Arrow 175"/>
          <p:cNvSpPr>
            <a:spLocks noGrp="1"/>
          </p:cNvSpPr>
          <p:nvPr/>
        </p:nvSpPr>
        <p:spPr>
          <a:xfrm>
            <a:off x="15830550" y="19764375"/>
            <a:ext cx="171450" cy="133350"/>
          </a:xfrm>
          <a:prstGeom prst="rightArrow">
            <a:avLst/>
          </a:prstGeom>
          <a:solidFill>
            <a:srgbClr val="00ACC7"/>
          </a:solidFill>
          <a:ln w="0">
            <a:noFill/>
          </a:ln>
        </p:spPr>
        <p:txBody>
          <a:bodyPr/>
          <a:lstStyle/>
          <a:p/>
        </p:txBody>
      </p:sp>
      <p:sp>
        <p:nvSpPr>
          <p:cNvPr id="177" name="shape-117"/>
          <p:cNvSpPr>
            <a:spLocks noGrp="1"/>
          </p:cNvSpPr>
          <p:nvPr/>
        </p:nvSpPr>
        <p:spPr>
          <a:xfrm>
            <a:off x="16002000" y="19516725"/>
            <a:ext cx="2076450" cy="1466850"/>
          </a:xfrm>
          <a:prstGeom prst="rect">
            <a:avLst/>
          </a:prstGeom>
          <a:solidFill>
            <a:srgbClr val="EDF8FC"/>
          </a:solidFill>
          <a:ln w="9525">
            <a:solidFill>
              <a:srgbClr val="B6D7E1"/>
            </a:solidFill>
          </a:ln>
        </p:spPr>
        <p:txBody>
          <a:bodyPr/>
          <a:lstStyle/>
          <a:p/>
        </p:txBody>
      </p:sp>
      <p:pic>
        <p:nvPicPr>
          <p:cNvPr id="178" name="Picture 177"/>
          <p:cNvPicPr>
            <a:picLocks noChangeAspect="1"/>
          </p:cNvPicPr>
          <p:nvPr/>
        </p:nvPicPr>
        <p:blipFill>
          <a:blip r:embed="rId26"/>
          <a:srcRect/>
          <a:stretch>
            <a:fillRect/>
          </a:stretch>
        </p:blipFill>
        <p:spPr>
          <a:xfrm>
            <a:off x="16840200" y="19631025"/>
            <a:ext cx="400050" cy="400050"/>
          </a:xfrm>
          <a:prstGeom prst="rect">
            <a:avLst/>
          </a:prstGeom>
        </p:spPr>
      </p:pic>
      <p:sp>
        <p:nvSpPr>
          <p:cNvPr id="179" name="text-118"/>
          <p:cNvSpPr>
            <a:spLocks noGrp="1"/>
          </p:cNvSpPr>
          <p:nvPr/>
        </p:nvSpPr>
        <p:spPr>
          <a:xfrm>
            <a:off x="16049625" y="20126325"/>
            <a:ext cx="1981200" cy="314325"/>
          </a:xfrm>
          <a:prstGeom prst="rect">
            <a:avLst/>
          </a:prstGeom>
          <a:noFill/>
          <a:ln w="0">
            <a:noFill/>
          </a:ln>
        </p:spPr>
        <p:txBody>
          <a:bodyPr wrap="square" lIns="0" tIns="0" rIns="0" bIns="0" anchor="t">
            <a:noAutofit/>
          </a:bodyPr>
          <a:lstStyle/>
          <a:p>
            <a:pPr algn="ctr"/>
            <a:r>
              <a:rPr sz="1875" b="1">
                <a:solidFill>
                  <a:srgbClr val="071F36"/>
                </a:solidFill>
                <a:latin typeface="Arial"/>
                <a:ea typeface="Arial"/>
                <a:cs typeface="Arial"/>
              </a:rPr>
              <a:t>Label metrics</a:t>
            </a:r>
          </a:p>
        </p:txBody>
      </p:sp>
      <p:sp>
        <p:nvSpPr>
          <p:cNvPr id="180" name="text-119"/>
          <p:cNvSpPr>
            <a:spLocks noGrp="1"/>
          </p:cNvSpPr>
          <p:nvPr/>
        </p:nvSpPr>
        <p:spPr>
          <a:xfrm>
            <a:off x="16049625" y="20488275"/>
            <a:ext cx="1981200" cy="495300"/>
          </a:xfrm>
          <a:prstGeom prst="rect">
            <a:avLst/>
          </a:prstGeom>
          <a:noFill/>
          <a:ln w="0">
            <a:noFill/>
          </a:ln>
        </p:spPr>
        <p:txBody>
          <a:bodyPr wrap="square" lIns="0" tIns="0" rIns="0" bIns="0" anchor="t">
            <a:noAutofit/>
          </a:bodyPr>
          <a:lstStyle/>
          <a:p>
            <a:pPr algn="ctr"/>
            <a:r>
              <a:rPr sz="1650" b="0">
                <a:solidFill>
                  <a:srgbClr val="486174"/>
                </a:solidFill>
                <a:latin typeface="Arial"/>
                <a:ea typeface="Arial"/>
                <a:cs typeface="Arial"/>
              </a:rPr>
              <a:t>Precision · Recall</a:t>
            </a:r>
          </a:p>
          <a:p>
            <a:pPr algn="ctr"/>
            <a:r>
              <a:rPr sz="1650" b="0">
                <a:solidFill>
                  <a:srgbClr val="486174"/>
                </a:solidFill>
                <a:latin typeface="Arial"/>
                <a:ea typeface="Arial"/>
                <a:cs typeface="Arial"/>
              </a:rPr>
              <a:t>F1 · Support</a:t>
            </a:r>
          </a:p>
        </p:txBody>
      </p:sp>
      <p:sp>
        <p:nvSpPr>
          <p:cNvPr id="181" name="Line 180"/>
          <p:cNvSpPr>
            <a:spLocks noGrp="1"/>
          </p:cNvSpPr>
          <p:nvPr/>
        </p:nvSpPr>
        <p:spPr>
          <a:xfrm>
            <a:off x="18078450" y="19831050"/>
            <a:ext cx="76200" cy="0"/>
          </a:xfrm>
          <a:prstGeom prst="line">
            <a:avLst/>
          </a:prstGeom>
          <a:noFill/>
          <a:ln w="28575">
            <a:solidFill>
              <a:srgbClr val="00ACC7"/>
            </a:solidFill>
          </a:ln>
        </p:spPr>
        <p:txBody>
          <a:bodyPr/>
          <a:lstStyle/>
          <a:p/>
        </p:txBody>
      </p:sp>
      <p:sp>
        <p:nvSpPr>
          <p:cNvPr id="182" name="Right Arrow 181"/>
          <p:cNvSpPr>
            <a:spLocks noGrp="1"/>
          </p:cNvSpPr>
          <p:nvPr/>
        </p:nvSpPr>
        <p:spPr>
          <a:xfrm>
            <a:off x="18116550" y="19764375"/>
            <a:ext cx="171450" cy="133350"/>
          </a:xfrm>
          <a:prstGeom prst="rightArrow">
            <a:avLst/>
          </a:prstGeom>
          <a:solidFill>
            <a:srgbClr val="00ACC7"/>
          </a:solidFill>
          <a:ln w="0">
            <a:noFill/>
          </a:ln>
        </p:spPr>
        <p:txBody>
          <a:bodyPr/>
          <a:lstStyle/>
          <a:p/>
        </p:txBody>
      </p:sp>
      <p:sp>
        <p:nvSpPr>
          <p:cNvPr id="183" name="shape-120"/>
          <p:cNvSpPr>
            <a:spLocks noGrp="1"/>
          </p:cNvSpPr>
          <p:nvPr/>
        </p:nvSpPr>
        <p:spPr>
          <a:xfrm>
            <a:off x="18288000" y="19516725"/>
            <a:ext cx="2076450" cy="1466850"/>
          </a:xfrm>
          <a:prstGeom prst="rect">
            <a:avLst/>
          </a:prstGeom>
          <a:solidFill>
            <a:srgbClr val="EDF8FC"/>
          </a:solidFill>
          <a:ln w="9525">
            <a:solidFill>
              <a:srgbClr val="B6D7E1"/>
            </a:solidFill>
          </a:ln>
        </p:spPr>
        <p:txBody>
          <a:bodyPr/>
          <a:lstStyle/>
          <a:p/>
        </p:txBody>
      </p:sp>
      <p:pic>
        <p:nvPicPr>
          <p:cNvPr id="184" name="Picture 183"/>
          <p:cNvPicPr>
            <a:picLocks noChangeAspect="1"/>
          </p:cNvPicPr>
          <p:nvPr/>
        </p:nvPicPr>
        <p:blipFill>
          <a:blip r:embed="rId27"/>
          <a:srcRect/>
          <a:stretch>
            <a:fillRect/>
          </a:stretch>
        </p:blipFill>
        <p:spPr>
          <a:xfrm>
            <a:off x="19126200" y="19631025"/>
            <a:ext cx="400050" cy="400050"/>
          </a:xfrm>
          <a:prstGeom prst="rect">
            <a:avLst/>
          </a:prstGeom>
        </p:spPr>
      </p:pic>
      <p:sp>
        <p:nvSpPr>
          <p:cNvPr id="185" name="text-121"/>
          <p:cNvSpPr>
            <a:spLocks noGrp="1"/>
          </p:cNvSpPr>
          <p:nvPr/>
        </p:nvSpPr>
        <p:spPr>
          <a:xfrm>
            <a:off x="18335625" y="20126325"/>
            <a:ext cx="1981200" cy="314325"/>
          </a:xfrm>
          <a:prstGeom prst="rect">
            <a:avLst/>
          </a:prstGeom>
          <a:noFill/>
          <a:ln w="0">
            <a:noFill/>
          </a:ln>
        </p:spPr>
        <p:txBody>
          <a:bodyPr wrap="square" lIns="0" tIns="0" rIns="0" bIns="0" anchor="t">
            <a:noAutofit/>
          </a:bodyPr>
          <a:lstStyle/>
          <a:p>
            <a:pPr algn="ctr"/>
            <a:r>
              <a:rPr sz="1875" b="1">
                <a:solidFill>
                  <a:srgbClr val="071F36"/>
                </a:solidFill>
                <a:latin typeface="Arial"/>
                <a:ea typeface="Arial"/>
                <a:cs typeface="Arial"/>
              </a:rPr>
              <a:t>Error review</a:t>
            </a:r>
          </a:p>
        </p:txBody>
      </p:sp>
      <p:sp>
        <p:nvSpPr>
          <p:cNvPr id="186" name="text-122"/>
          <p:cNvSpPr>
            <a:spLocks noGrp="1"/>
          </p:cNvSpPr>
          <p:nvPr/>
        </p:nvSpPr>
        <p:spPr>
          <a:xfrm>
            <a:off x="18335625" y="20488275"/>
            <a:ext cx="1981200" cy="495300"/>
          </a:xfrm>
          <a:prstGeom prst="rect">
            <a:avLst/>
          </a:prstGeom>
          <a:noFill/>
          <a:ln w="0">
            <a:noFill/>
          </a:ln>
        </p:spPr>
        <p:txBody>
          <a:bodyPr wrap="square" lIns="0" tIns="0" rIns="0" bIns="0" anchor="t">
            <a:noAutofit/>
          </a:bodyPr>
          <a:lstStyle/>
          <a:p>
            <a:pPr algn="ctr"/>
            <a:r>
              <a:rPr sz="1650" b="0">
                <a:solidFill>
                  <a:srgbClr val="486174"/>
                </a:solidFill>
                <a:latin typeface="Arial"/>
                <a:ea typeface="Arial"/>
                <a:cs typeface="Arial"/>
              </a:rPr>
              <a:t>False alarms</a:t>
            </a:r>
          </a:p>
          <a:p>
            <a:pPr algn="ctr"/>
            <a:r>
              <a:rPr sz="1650" b="0">
                <a:solidFill>
                  <a:srgbClr val="486174"/>
                </a:solidFill>
                <a:latin typeface="Arial"/>
                <a:ea typeface="Arial"/>
                <a:cs typeface="Arial"/>
              </a:rPr>
              <a:t>Missed cases</a:t>
            </a:r>
          </a:p>
        </p:txBody>
      </p:sp>
      <p:sp>
        <p:nvSpPr>
          <p:cNvPr id="187" name="shape-123"/>
          <p:cNvSpPr>
            <a:spLocks noGrp="1"/>
          </p:cNvSpPr>
          <p:nvPr/>
        </p:nvSpPr>
        <p:spPr>
          <a:xfrm>
            <a:off x="571500" y="21355050"/>
            <a:ext cx="12668250" cy="5524500"/>
          </a:xfrm>
          <a:prstGeom prst="rect">
            <a:avLst/>
          </a:prstGeom>
          <a:solidFill>
            <a:srgbClr val="FFFFFF"/>
          </a:solidFill>
          <a:ln w="14288">
            <a:solidFill>
              <a:srgbClr val="B6D7E1"/>
            </a:solidFill>
          </a:ln>
        </p:spPr>
        <p:txBody>
          <a:bodyPr/>
          <a:lstStyle/>
          <a:p/>
        </p:txBody>
      </p:sp>
      <p:sp>
        <p:nvSpPr>
          <p:cNvPr id="188" name="shape-124"/>
          <p:cNvSpPr>
            <a:spLocks noGrp="1"/>
          </p:cNvSpPr>
          <p:nvPr/>
        </p:nvSpPr>
        <p:spPr>
          <a:xfrm>
            <a:off x="571500" y="21355050"/>
            <a:ext cx="12668250" cy="552450"/>
          </a:xfrm>
          <a:prstGeom prst="rect">
            <a:avLst/>
          </a:prstGeom>
          <a:solidFill>
            <a:srgbClr val="071F36"/>
          </a:solidFill>
          <a:ln w="0">
            <a:noFill/>
          </a:ln>
        </p:spPr>
        <p:txBody>
          <a:bodyPr/>
          <a:lstStyle/>
          <a:p/>
        </p:txBody>
      </p:sp>
      <p:sp>
        <p:nvSpPr>
          <p:cNvPr id="189" name="shape-125"/>
          <p:cNvSpPr>
            <a:spLocks noGrp="1"/>
          </p:cNvSpPr>
          <p:nvPr/>
        </p:nvSpPr>
        <p:spPr>
          <a:xfrm>
            <a:off x="571500" y="21355050"/>
            <a:ext cx="66675" cy="552450"/>
          </a:xfrm>
          <a:prstGeom prst="rect">
            <a:avLst/>
          </a:prstGeom>
          <a:solidFill>
            <a:srgbClr val="00ACC7"/>
          </a:solidFill>
          <a:ln w="0">
            <a:noFill/>
          </a:ln>
        </p:spPr>
        <p:txBody>
          <a:bodyPr/>
          <a:lstStyle/>
          <a:p/>
        </p:txBody>
      </p:sp>
      <p:pic>
        <p:nvPicPr>
          <p:cNvPr id="190" name="Picture 189"/>
          <p:cNvPicPr>
            <a:picLocks noChangeAspect="1"/>
          </p:cNvPicPr>
          <p:nvPr/>
        </p:nvPicPr>
        <p:blipFill>
          <a:blip r:embed="rId28"/>
          <a:srcRect/>
          <a:stretch>
            <a:fillRect/>
          </a:stretch>
        </p:blipFill>
        <p:spPr>
          <a:xfrm>
            <a:off x="781050" y="21459825"/>
            <a:ext cx="352425" cy="352425"/>
          </a:xfrm>
          <a:prstGeom prst="rect">
            <a:avLst/>
          </a:prstGeom>
        </p:spPr>
      </p:pic>
      <p:sp>
        <p:nvSpPr>
          <p:cNvPr id="191" name="text-126"/>
          <p:cNvSpPr>
            <a:spLocks noGrp="1"/>
          </p:cNvSpPr>
          <p:nvPr/>
        </p:nvSpPr>
        <p:spPr>
          <a:xfrm>
            <a:off x="1314450" y="21440775"/>
            <a:ext cx="117538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Results</a:t>
            </a:r>
          </a:p>
        </p:txBody>
      </p:sp>
      <p:sp>
        <p:nvSpPr>
          <p:cNvPr id="192" name="text-127"/>
          <p:cNvSpPr>
            <a:spLocks noGrp="1"/>
          </p:cNvSpPr>
          <p:nvPr/>
        </p:nvSpPr>
        <p:spPr>
          <a:xfrm>
            <a:off x="809625" y="22098000"/>
            <a:ext cx="11906250" cy="419100"/>
          </a:xfrm>
          <a:prstGeom prst="rect">
            <a:avLst/>
          </a:prstGeom>
          <a:noFill/>
          <a:ln w="0">
            <a:noFill/>
          </a:ln>
        </p:spPr>
        <p:txBody>
          <a:bodyPr wrap="square" lIns="0" tIns="0" rIns="0" bIns="0" anchor="t">
            <a:noAutofit/>
          </a:bodyPr>
          <a:lstStyle/>
          <a:p>
            <a:pPr algn="l"/>
            <a:r>
              <a:rPr sz="2475" b="1">
                <a:solidFill>
                  <a:srgbClr val="071F36"/>
                </a:solidFill>
                <a:latin typeface="Arial"/>
                <a:ea typeface="Arial"/>
                <a:cs typeface="Arial"/>
              </a:rPr>
              <a:t>Label-wise development evaluation</a:t>
            </a:r>
          </a:p>
        </p:txBody>
      </p:sp>
      <p:sp>
        <p:nvSpPr>
          <p:cNvPr id="193" name="text-128"/>
          <p:cNvSpPr>
            <a:spLocks noGrp="1"/>
          </p:cNvSpPr>
          <p:nvPr/>
        </p:nvSpPr>
        <p:spPr>
          <a:xfrm>
            <a:off x="809625" y="22574250"/>
            <a:ext cx="11906250" cy="352425"/>
          </a:xfrm>
          <a:prstGeom prst="rect">
            <a:avLst/>
          </a:prstGeom>
          <a:noFill/>
          <a:ln w="0">
            <a:noFill/>
          </a:ln>
        </p:spPr>
        <p:txBody>
          <a:bodyPr wrap="square" lIns="0" tIns="0" rIns="0" bIns="0" anchor="t">
            <a:noAutofit/>
          </a:bodyPr>
          <a:lstStyle/>
          <a:p>
            <a:pPr algn="l"/>
            <a:r>
              <a:rPr sz="2100" b="0">
                <a:solidFill>
                  <a:srgbClr val="486174"/>
                </a:solidFill>
                <a:latin typeface="Arial"/>
                <a:ea typeface="Arial"/>
                <a:cs typeface="Arial"/>
              </a:rPr>
              <a:t>Reconstructed V38 predictions · 500 development texts</a:t>
            </a:r>
          </a:p>
        </p:txBody>
      </p:sp>
      <p:graphicFrame>
        <p:nvGraphicFramePr>
          <p:cNvPr id="194" name="Table 193"/>
          <p:cNvGraphicFramePr/>
          <p:nvPr/>
        </p:nvGraphicFramePr>
        <p:xfrm>
          <a:off x="809625" y="23088600"/>
          <a:ext cx="6667500" cy="2971800"/>
        </p:xfrm>
        <a:graphic>
          <a:graphicData uri="http://schemas.openxmlformats.org/drawingml/2006/table">
            <a:tbl>
              <a:tblPr/>
              <a:tblGrid>
                <a:gridCol w="2524125"/>
                <a:gridCol w="1381125"/>
                <a:gridCol w="1381125"/>
                <a:gridCol w="1381125"/>
              </a:tblGrid>
              <a:tr h="371475">
                <a:tc>
                  <a:txBody>
                    <a:bodyPr lIns="76200" tIns="28575" rIns="66675" bIns="28575"/>
                    <a:lstStyle/>
                    <a:p>
                      <a:r>
                        <a:rPr sz="1800" b="1">
                          <a:solidFill>
                            <a:srgbClr val="071F36"/>
                          </a:solidFill>
                          <a:latin typeface="Arial"/>
                          <a:ea typeface="Arial"/>
                          <a:cs typeface="Arial"/>
                        </a:rPr>
                        <a:t>Label</a:t>
                      </a:r>
                    </a:p>
                  </a:txBody>
                  <a:tcPr marL="76200" marR="66675" marT="28575" marB="28575">
                    <a:solidFill>
                      <a:srgbClr val="EDF8FC"/>
                    </a:solidFill>
                  </a:tcPr>
                </a:tc>
                <a:tc>
                  <a:txBody>
                    <a:bodyPr lIns="76200" tIns="28575" rIns="66675" bIns="28575"/>
                    <a:lstStyle/>
                    <a:p>
                      <a:pPr algn="ctr"/>
                      <a:r>
                        <a:rPr sz="1800" b="1">
                          <a:solidFill>
                            <a:srgbClr val="071F36"/>
                          </a:solidFill>
                          <a:latin typeface="Arial"/>
                          <a:ea typeface="Arial"/>
                          <a:cs typeface="Arial"/>
                        </a:rPr>
                        <a:t>Prec. (%)</a:t>
                      </a:r>
                    </a:p>
                  </a:txBody>
                  <a:tcPr marL="76200" marR="66675" marT="28575" marB="28575">
                    <a:solidFill>
                      <a:srgbClr val="EDF8FC"/>
                    </a:solidFill>
                  </a:tcPr>
                </a:tc>
                <a:tc>
                  <a:txBody>
                    <a:bodyPr lIns="76200" tIns="28575" rIns="66675" bIns="28575"/>
                    <a:lstStyle/>
                    <a:p>
                      <a:pPr algn="ctr"/>
                      <a:r>
                        <a:rPr sz="1800" b="1">
                          <a:solidFill>
                            <a:srgbClr val="071F36"/>
                          </a:solidFill>
                          <a:latin typeface="Arial"/>
                          <a:ea typeface="Arial"/>
                          <a:cs typeface="Arial"/>
                        </a:rPr>
                        <a:t>Recall</a:t>
                      </a:r>
                    </a:p>
                  </a:txBody>
                  <a:tcPr marL="76200" marR="66675" marT="28575" marB="28575">
                    <a:solidFill>
                      <a:srgbClr val="EDF8FC"/>
                    </a:solidFill>
                  </a:tcPr>
                </a:tc>
                <a:tc>
                  <a:txBody>
                    <a:bodyPr lIns="76200" tIns="28575" rIns="66675" bIns="28575"/>
                    <a:lstStyle/>
                    <a:p>
                      <a:pPr algn="ctr"/>
                      <a:r>
                        <a:rPr sz="1800" b="1">
                          <a:solidFill>
                            <a:srgbClr val="071F36"/>
                          </a:solidFill>
                          <a:latin typeface="Arial"/>
                          <a:ea typeface="Arial"/>
                          <a:cs typeface="Arial"/>
                        </a:rPr>
                        <a:t>F1 (%)</a:t>
                      </a:r>
                    </a:p>
                  </a:txBody>
                  <a:tcPr marL="76200" marR="66675" marT="28575" marB="28575">
                    <a:solidFill>
                      <a:srgbClr val="EDF8FC"/>
                    </a:solidFill>
                  </a:tcPr>
                </a:tc>
              </a:tr>
              <a:tr h="371475">
                <a:tc>
                  <a:txBody>
                    <a:bodyPr lIns="76200" tIns="28575" rIns="66675" bIns="28575"/>
                    <a:lstStyle/>
                    <a:p>
                      <a:r>
                        <a:rPr sz="1800">
                          <a:solidFill>
                            <a:srgbClr val="17354B"/>
                          </a:solidFill>
                          <a:latin typeface="Arial"/>
                          <a:ea typeface="Arial"/>
                          <a:cs typeface="Arial"/>
                        </a:rPr>
                        <a:t>Toxicity</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89.1</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85.8</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87.4</a:t>
                      </a:r>
                    </a:p>
                  </a:txBody>
                  <a:tcPr marL="76200" marR="66675" marT="28575" marB="28575">
                    <a:solidFill>
                      <a:srgbClr val="FFFFFF"/>
                    </a:solidFill>
                  </a:tcPr>
                </a:tc>
              </a:tr>
              <a:tr h="371475">
                <a:tc>
                  <a:txBody>
                    <a:bodyPr lIns="76200" tIns="28575" rIns="66675" bIns="28575"/>
                    <a:lstStyle/>
                    <a:p>
                      <a:r>
                        <a:rPr sz="1800">
                          <a:solidFill>
                            <a:srgbClr val="17354B"/>
                          </a:solidFill>
                          <a:latin typeface="Arial"/>
                          <a:ea typeface="Arial"/>
                          <a:cs typeface="Arial"/>
                        </a:rPr>
                        <a:t>Implicit toxicity</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28.6</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53.3</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37.2</a:t>
                      </a:r>
                    </a:p>
                  </a:txBody>
                  <a:tcPr marL="76200" marR="66675" marT="28575" marB="28575">
                    <a:solidFill>
                      <a:srgbClr val="FFFFFF"/>
                    </a:solidFill>
                  </a:tcPr>
                </a:tc>
              </a:tr>
              <a:tr h="371475">
                <a:tc>
                  <a:txBody>
                    <a:bodyPr lIns="76200" tIns="28575" rIns="66675" bIns="28575"/>
                    <a:lstStyle/>
                    <a:p>
                      <a:r>
                        <a:rPr sz="1800">
                          <a:solidFill>
                            <a:srgbClr val="17354B"/>
                          </a:solidFill>
                          <a:latin typeface="Arial"/>
                          <a:ea typeface="Arial"/>
                          <a:cs typeface="Arial"/>
                        </a:rPr>
                        <a:t>Sarcasm</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22.0</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92.0</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35.4</a:t>
                      </a:r>
                    </a:p>
                  </a:txBody>
                  <a:tcPr marL="76200" marR="66675" marT="28575" marB="28575">
                    <a:solidFill>
                      <a:srgbClr val="FFFFFF"/>
                    </a:solidFill>
                  </a:tcPr>
                </a:tc>
              </a:tr>
              <a:tr h="371475">
                <a:tc>
                  <a:txBody>
                    <a:bodyPr lIns="76200" tIns="28575" rIns="66675" bIns="28575"/>
                    <a:lstStyle/>
                    <a:p>
                      <a:r>
                        <a:rPr sz="1800">
                          <a:solidFill>
                            <a:srgbClr val="17354B"/>
                          </a:solidFill>
                          <a:latin typeface="Arial"/>
                          <a:ea typeface="Arial"/>
                          <a:cs typeface="Arial"/>
                        </a:rPr>
                        <a:t>Profanity</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48.9</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80.0</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60.7</a:t>
                      </a:r>
                    </a:p>
                  </a:txBody>
                  <a:tcPr marL="76200" marR="66675" marT="28575" marB="28575">
                    <a:solidFill>
                      <a:srgbClr val="FFFFFF"/>
                    </a:solidFill>
                  </a:tcPr>
                </a:tc>
              </a:tr>
              <a:tr h="371475">
                <a:tc>
                  <a:txBody>
                    <a:bodyPr lIns="76200" tIns="28575" rIns="66675" bIns="28575"/>
                    <a:lstStyle/>
                    <a:p>
                      <a:r>
                        <a:rPr sz="1800">
                          <a:solidFill>
                            <a:srgbClr val="17354B"/>
                          </a:solidFill>
                          <a:latin typeface="Arial"/>
                          <a:ea typeface="Arial"/>
                          <a:cs typeface="Arial"/>
                        </a:rPr>
                        <a:t>Threatening</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37.5</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40.0</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38.7</a:t>
                      </a:r>
                    </a:p>
                  </a:txBody>
                  <a:tcPr marL="76200" marR="66675" marT="28575" marB="28575">
                    <a:solidFill>
                      <a:srgbClr val="FFFFFF"/>
                    </a:solidFill>
                  </a:tcPr>
                </a:tc>
              </a:tr>
              <a:tr h="371475">
                <a:tc>
                  <a:txBody>
                    <a:bodyPr lIns="76200" tIns="28575" rIns="66675" bIns="28575"/>
                    <a:lstStyle/>
                    <a:p>
                      <a:r>
                        <a:rPr sz="1800">
                          <a:solidFill>
                            <a:srgbClr val="17354B"/>
                          </a:solidFill>
                          <a:latin typeface="Arial"/>
                          <a:ea typeface="Arial"/>
                          <a:cs typeface="Arial"/>
                        </a:rPr>
                        <a:t>Identity attack</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56.5</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82.5</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67.1</a:t>
                      </a:r>
                    </a:p>
                  </a:txBody>
                  <a:tcPr marL="76200" marR="66675" marT="28575" marB="28575">
                    <a:solidFill>
                      <a:srgbClr val="FFFFFF"/>
                    </a:solidFill>
                  </a:tcPr>
                </a:tc>
              </a:tr>
              <a:tr h="371475">
                <a:tc>
                  <a:txBody>
                    <a:bodyPr lIns="76200" tIns="28575" rIns="66675" bIns="28575"/>
                    <a:lstStyle/>
                    <a:p>
                      <a:r>
                        <a:rPr sz="1800">
                          <a:solidFill>
                            <a:srgbClr val="17354B"/>
                          </a:solidFill>
                          <a:latin typeface="Arial"/>
                          <a:ea typeface="Arial"/>
                          <a:cs typeface="Arial"/>
                        </a:rPr>
                        <a:t>Sexual content</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55.6</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62.5</a:t>
                      </a:r>
                    </a:p>
                  </a:txBody>
                  <a:tcPr marL="76200" marR="66675" marT="28575" marB="28575">
                    <a:solidFill>
                      <a:srgbClr val="FFFFFF"/>
                    </a:solidFill>
                  </a:tcPr>
                </a:tc>
                <a:tc>
                  <a:txBody>
                    <a:bodyPr lIns="76200" tIns="28575" rIns="66675" bIns="28575"/>
                    <a:lstStyle/>
                    <a:p>
                      <a:pPr algn="ctr"/>
                      <a:r>
                        <a:rPr sz="1800">
                          <a:solidFill>
                            <a:srgbClr val="17354B"/>
                          </a:solidFill>
                          <a:latin typeface="Arial"/>
                          <a:ea typeface="Arial"/>
                          <a:cs typeface="Arial"/>
                        </a:rPr>
                        <a:t>58.8</a:t>
                      </a:r>
                    </a:p>
                  </a:txBody>
                  <a:tcPr marL="76200" marR="66675" marT="28575" marB="28575">
                    <a:solidFill>
                      <a:srgbClr val="FFFFFF"/>
                    </a:solidFill>
                  </a:tcPr>
                </a:tc>
              </a:tr>
            </a:tbl>
          </a:graphicData>
        </a:graphic>
      </p:graphicFrame>
      <p:sp>
        <p:nvSpPr>
          <p:cNvPr id="195" name="text-129"/>
          <p:cNvSpPr>
            <a:spLocks noGrp="1"/>
          </p:cNvSpPr>
          <p:nvPr/>
        </p:nvSpPr>
        <p:spPr>
          <a:xfrm>
            <a:off x="7858125" y="23088600"/>
            <a:ext cx="4905375" cy="342900"/>
          </a:xfrm>
          <a:prstGeom prst="rect">
            <a:avLst/>
          </a:prstGeom>
          <a:noFill/>
          <a:ln w="0">
            <a:noFill/>
          </a:ln>
        </p:spPr>
        <p:txBody>
          <a:bodyPr wrap="square" lIns="0" tIns="0" rIns="0" bIns="0" anchor="t">
            <a:noAutofit/>
          </a:bodyPr>
          <a:lstStyle/>
          <a:p>
            <a:pPr algn="l"/>
            <a:r>
              <a:rPr sz="2025" b="1">
                <a:solidFill>
                  <a:srgbClr val="071F36"/>
                </a:solidFill>
                <a:latin typeface="Arial"/>
                <a:ea typeface="Arial"/>
                <a:cs typeface="Arial"/>
              </a:rPr>
              <a:t>F1 by label (%)</a:t>
            </a:r>
          </a:p>
        </p:txBody>
      </p:sp>
      <p:graphicFrame>
        <p:nvGraphicFramePr>
          <p:cNvPr id="196" name="Chart"/>
          <p:cNvGraphicFramePr/>
          <p:nvPr/>
        </p:nvGraphicFramePr>
        <p:xfrm>
          <a:off x="7762875" y="23526750"/>
          <a:ext cx="5048250" cy="2476500"/>
        </p:xfrm>
        <a:graphic>
          <a:graphicData uri="http://schemas.openxmlformats.org/drawingml/2006/chart">
            <c:chart xmlns:c="http://schemas.openxmlformats.org/drawingml/2006/chart" xmlns:r="http://schemas.openxmlformats.org/officeDocument/2006/relationships" r:id="rId29"/>
          </a:graphicData>
        </a:graphic>
      </p:graphicFrame>
      <p:sp>
        <p:nvSpPr>
          <p:cNvPr id="197" name="text-130"/>
          <p:cNvSpPr>
            <a:spLocks noGrp="1"/>
          </p:cNvSpPr>
          <p:nvPr/>
        </p:nvSpPr>
        <p:spPr>
          <a:xfrm>
            <a:off x="809625" y="26212800"/>
            <a:ext cx="11906250" cy="600075"/>
          </a:xfrm>
          <a:prstGeom prst="rect">
            <a:avLst/>
          </a:prstGeom>
          <a:noFill/>
          <a:ln w="0">
            <a:noFill/>
          </a:ln>
        </p:spPr>
        <p:txBody>
          <a:bodyPr wrap="square" lIns="0" tIns="0" rIns="0" bIns="0" anchor="t">
            <a:noAutofit/>
          </a:bodyPr>
          <a:lstStyle/>
          <a:p>
            <a:pPr algn="l"/>
            <a:r>
              <a:rPr sz="1875" b="0">
                <a:solidFill>
                  <a:srgbClr val="486174"/>
                </a:solidFill>
                <a:latin typeface="Arial"/>
                <a:ea typeface="Arial"/>
                <a:cs typeface="Arial"/>
              </a:rPr>
              <a:t>Positive-class metrics. Toxicity macro-F1 (both classes): 79.55%.</a:t>
            </a:r>
          </a:p>
          <a:p>
            <a:pPr algn="l"/>
            <a:r>
              <a:rPr sz="1875" b="0">
                <a:solidFill>
                  <a:srgbClr val="486174"/>
                </a:solidFill>
                <a:latin typeface="Arial"/>
                <a:ea typeface="Arial"/>
                <a:cs typeface="Arial"/>
              </a:rPr>
              <a:t>This development set informed selection; results may be optimistic.</a:t>
            </a:r>
          </a:p>
        </p:txBody>
      </p:sp>
      <p:sp>
        <p:nvSpPr>
          <p:cNvPr id="198" name="shape-131"/>
          <p:cNvSpPr>
            <a:spLocks noGrp="1"/>
          </p:cNvSpPr>
          <p:nvPr/>
        </p:nvSpPr>
        <p:spPr>
          <a:xfrm>
            <a:off x="13468350" y="21355050"/>
            <a:ext cx="7344150" cy="2324100"/>
          </a:xfrm>
          <a:prstGeom prst="rect">
            <a:avLst/>
          </a:prstGeom>
          <a:solidFill>
            <a:srgbClr val="FFFFFF"/>
          </a:solidFill>
          <a:ln w="14288">
            <a:solidFill>
              <a:srgbClr val="B6D7E1"/>
            </a:solidFill>
          </a:ln>
        </p:spPr>
        <p:txBody>
          <a:bodyPr/>
          <a:lstStyle/>
          <a:p/>
        </p:txBody>
      </p:sp>
      <p:sp>
        <p:nvSpPr>
          <p:cNvPr id="199" name="shape-132"/>
          <p:cNvSpPr>
            <a:spLocks noGrp="1"/>
          </p:cNvSpPr>
          <p:nvPr/>
        </p:nvSpPr>
        <p:spPr>
          <a:xfrm>
            <a:off x="13468350" y="21355050"/>
            <a:ext cx="7344150" cy="552450"/>
          </a:xfrm>
          <a:prstGeom prst="rect">
            <a:avLst/>
          </a:prstGeom>
          <a:solidFill>
            <a:srgbClr val="071F36"/>
          </a:solidFill>
          <a:ln w="0">
            <a:noFill/>
          </a:ln>
        </p:spPr>
        <p:txBody>
          <a:bodyPr/>
          <a:lstStyle/>
          <a:p/>
        </p:txBody>
      </p:sp>
      <p:sp>
        <p:nvSpPr>
          <p:cNvPr id="200" name="shape-133"/>
          <p:cNvSpPr>
            <a:spLocks noGrp="1"/>
          </p:cNvSpPr>
          <p:nvPr/>
        </p:nvSpPr>
        <p:spPr>
          <a:xfrm>
            <a:off x="13468350" y="21355050"/>
            <a:ext cx="66675" cy="552450"/>
          </a:xfrm>
          <a:prstGeom prst="rect">
            <a:avLst/>
          </a:prstGeom>
          <a:solidFill>
            <a:srgbClr val="00ACC7"/>
          </a:solidFill>
          <a:ln w="0">
            <a:noFill/>
          </a:ln>
        </p:spPr>
        <p:txBody>
          <a:bodyPr/>
          <a:lstStyle/>
          <a:p/>
        </p:txBody>
      </p:sp>
      <p:pic>
        <p:nvPicPr>
          <p:cNvPr id="201" name="Picture 200"/>
          <p:cNvPicPr>
            <a:picLocks noChangeAspect="1"/>
          </p:cNvPicPr>
          <p:nvPr/>
        </p:nvPicPr>
        <p:blipFill>
          <a:blip r:embed="rId30"/>
          <a:srcRect/>
          <a:stretch>
            <a:fillRect/>
          </a:stretch>
        </p:blipFill>
        <p:spPr>
          <a:xfrm>
            <a:off x="13677900" y="21459825"/>
            <a:ext cx="352425" cy="352425"/>
          </a:xfrm>
          <a:prstGeom prst="rect">
            <a:avLst/>
          </a:prstGeom>
        </p:spPr>
      </p:pic>
      <p:sp>
        <p:nvSpPr>
          <p:cNvPr id="202" name="text-134"/>
          <p:cNvSpPr>
            <a:spLocks noGrp="1"/>
          </p:cNvSpPr>
          <p:nvPr/>
        </p:nvSpPr>
        <p:spPr>
          <a:xfrm>
            <a:off x="14211300" y="21440775"/>
            <a:ext cx="6429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Class-wise Analysis</a:t>
            </a:r>
          </a:p>
        </p:txBody>
      </p:sp>
      <p:sp>
        <p:nvSpPr>
          <p:cNvPr id="203" name="text-135"/>
          <p:cNvSpPr>
            <a:spLocks noGrp="1"/>
          </p:cNvSpPr>
          <p:nvPr/>
        </p:nvSpPr>
        <p:spPr>
          <a:xfrm>
            <a:off x="13706475" y="22107525"/>
            <a:ext cx="6867900" cy="409575"/>
          </a:xfrm>
          <a:prstGeom prst="rect">
            <a:avLst/>
          </a:prstGeom>
          <a:noFill/>
          <a:ln w="0">
            <a:noFill/>
          </a:ln>
        </p:spPr>
        <p:txBody>
          <a:bodyPr wrap="square" lIns="0" tIns="0" rIns="0" bIns="0" anchor="t">
            <a:noAutofit/>
          </a:bodyPr>
          <a:lstStyle/>
          <a:p>
            <a:pPr algn="l"/>
            <a:r>
              <a:rPr sz="2175" b="1">
                <a:solidFill>
                  <a:srgbClr val="167DB7"/>
                </a:solidFill>
                <a:latin typeface="Arial"/>
                <a:ea typeface="Arial"/>
                <a:cs typeface="Arial"/>
              </a:rPr>
              <a:t>Toxicity: highest positive-class F1 (87.4%).</a:t>
            </a:r>
          </a:p>
        </p:txBody>
      </p:sp>
      <p:sp>
        <p:nvSpPr>
          <p:cNvPr id="204" name="text-136"/>
          <p:cNvSpPr>
            <a:spLocks noGrp="1"/>
          </p:cNvSpPr>
          <p:nvPr/>
        </p:nvSpPr>
        <p:spPr>
          <a:xfrm>
            <a:off x="13706475" y="22555200"/>
            <a:ext cx="6867900" cy="409575"/>
          </a:xfrm>
          <a:prstGeom prst="rect">
            <a:avLst/>
          </a:prstGeom>
          <a:noFill/>
          <a:ln w="0">
            <a:noFill/>
          </a:ln>
        </p:spPr>
        <p:txBody>
          <a:bodyPr wrap="square" lIns="0" tIns="0" rIns="0" bIns="0" anchor="t">
            <a:noAutofit/>
          </a:bodyPr>
          <a:lstStyle/>
          <a:p>
            <a:pPr algn="l"/>
            <a:r>
              <a:rPr sz="2175" b="0">
                <a:solidFill>
                  <a:srgbClr val="17354B"/>
                </a:solidFill>
                <a:latin typeface="Arial"/>
                <a:ea typeface="Arial"/>
                <a:cs typeface="Arial"/>
              </a:rPr>
              <a:t>Sarcasm: high recall, but 288 false alarms.</a:t>
            </a:r>
          </a:p>
        </p:txBody>
      </p:sp>
      <p:sp>
        <p:nvSpPr>
          <p:cNvPr id="205" name="text-137"/>
          <p:cNvSpPr>
            <a:spLocks noGrp="1"/>
          </p:cNvSpPr>
          <p:nvPr/>
        </p:nvSpPr>
        <p:spPr>
          <a:xfrm>
            <a:off x="13706475" y="23002875"/>
            <a:ext cx="6867900" cy="409575"/>
          </a:xfrm>
          <a:prstGeom prst="rect">
            <a:avLst/>
          </a:prstGeom>
          <a:noFill/>
          <a:ln w="0">
            <a:noFill/>
          </a:ln>
        </p:spPr>
        <p:txBody>
          <a:bodyPr wrap="square" lIns="0" tIns="0" rIns="0" bIns="0" anchor="t">
            <a:noAutofit/>
          </a:bodyPr>
          <a:lstStyle/>
          <a:p>
            <a:pPr algn="l"/>
            <a:r>
              <a:rPr sz="2175" b="0">
                <a:solidFill>
                  <a:srgbClr val="17354B"/>
                </a:solidFill>
                <a:latin typeface="Arial"/>
                <a:ea typeface="Arial"/>
                <a:cs typeface="Arial"/>
              </a:rPr>
              <a:t>Threats: 6 of 15 positive examples detected.</a:t>
            </a:r>
          </a:p>
        </p:txBody>
      </p:sp>
      <p:sp>
        <p:nvSpPr>
          <p:cNvPr id="206" name="shape-138"/>
          <p:cNvSpPr>
            <a:spLocks noGrp="1"/>
          </p:cNvSpPr>
          <p:nvPr/>
        </p:nvSpPr>
        <p:spPr>
          <a:xfrm>
            <a:off x="13468350" y="23907750"/>
            <a:ext cx="7344150" cy="1304925"/>
          </a:xfrm>
          <a:prstGeom prst="rect">
            <a:avLst/>
          </a:prstGeom>
          <a:solidFill>
            <a:srgbClr val="FFFFFF"/>
          </a:solidFill>
          <a:ln w="14288">
            <a:solidFill>
              <a:srgbClr val="B6D7E1"/>
            </a:solidFill>
          </a:ln>
        </p:spPr>
        <p:txBody>
          <a:bodyPr/>
          <a:lstStyle/>
          <a:p/>
        </p:txBody>
      </p:sp>
      <p:sp>
        <p:nvSpPr>
          <p:cNvPr id="207" name="shape-139"/>
          <p:cNvSpPr>
            <a:spLocks noGrp="1"/>
          </p:cNvSpPr>
          <p:nvPr/>
        </p:nvSpPr>
        <p:spPr>
          <a:xfrm>
            <a:off x="13468350" y="23907750"/>
            <a:ext cx="7344150" cy="552450"/>
          </a:xfrm>
          <a:prstGeom prst="rect">
            <a:avLst/>
          </a:prstGeom>
          <a:solidFill>
            <a:srgbClr val="071F36"/>
          </a:solidFill>
          <a:ln w="0">
            <a:noFill/>
          </a:ln>
        </p:spPr>
        <p:txBody>
          <a:bodyPr/>
          <a:lstStyle/>
          <a:p/>
        </p:txBody>
      </p:sp>
      <p:sp>
        <p:nvSpPr>
          <p:cNvPr id="208" name="shape-140"/>
          <p:cNvSpPr>
            <a:spLocks noGrp="1"/>
          </p:cNvSpPr>
          <p:nvPr/>
        </p:nvSpPr>
        <p:spPr>
          <a:xfrm>
            <a:off x="13468350" y="23907750"/>
            <a:ext cx="66675" cy="552450"/>
          </a:xfrm>
          <a:prstGeom prst="rect">
            <a:avLst/>
          </a:prstGeom>
          <a:solidFill>
            <a:srgbClr val="00ACC7"/>
          </a:solidFill>
          <a:ln w="0">
            <a:noFill/>
          </a:ln>
        </p:spPr>
        <p:txBody>
          <a:bodyPr/>
          <a:lstStyle/>
          <a:p/>
        </p:txBody>
      </p:sp>
      <p:pic>
        <p:nvPicPr>
          <p:cNvPr id="209" name="Picture 208"/>
          <p:cNvPicPr>
            <a:picLocks noChangeAspect="1"/>
          </p:cNvPicPr>
          <p:nvPr/>
        </p:nvPicPr>
        <p:blipFill>
          <a:blip r:embed="rId31"/>
          <a:srcRect/>
          <a:stretch>
            <a:fillRect/>
          </a:stretch>
        </p:blipFill>
        <p:spPr>
          <a:xfrm>
            <a:off x="13677900" y="24012525"/>
            <a:ext cx="352425" cy="352425"/>
          </a:xfrm>
          <a:prstGeom prst="rect">
            <a:avLst/>
          </a:prstGeom>
        </p:spPr>
      </p:pic>
      <p:sp>
        <p:nvSpPr>
          <p:cNvPr id="210" name="text-141"/>
          <p:cNvSpPr>
            <a:spLocks noGrp="1"/>
          </p:cNvSpPr>
          <p:nvPr/>
        </p:nvSpPr>
        <p:spPr>
          <a:xfrm>
            <a:off x="14211300" y="23993475"/>
            <a:ext cx="6429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Discussion</a:t>
            </a:r>
          </a:p>
        </p:txBody>
      </p:sp>
      <p:sp>
        <p:nvSpPr>
          <p:cNvPr id="211" name="text-142"/>
          <p:cNvSpPr>
            <a:spLocks noGrp="1"/>
          </p:cNvSpPr>
          <p:nvPr/>
        </p:nvSpPr>
        <p:spPr>
          <a:xfrm>
            <a:off x="13706475" y="24574500"/>
            <a:ext cx="6867900" cy="590550"/>
          </a:xfrm>
          <a:prstGeom prst="rect">
            <a:avLst/>
          </a:prstGeom>
          <a:noFill/>
          <a:ln w="0">
            <a:noFill/>
          </a:ln>
        </p:spPr>
        <p:txBody>
          <a:bodyPr wrap="square" lIns="0" tIns="0" rIns="0" bIns="0" anchor="t">
            <a:noAutofit/>
          </a:bodyPr>
          <a:lstStyle/>
          <a:p>
            <a:pPr algn="l"/>
            <a:r>
              <a:rPr sz="2025" b="0">
                <a:solidFill>
                  <a:srgbClr val="17354B"/>
                </a:solidFill>
                <a:latin typeface="Arial"/>
                <a:ea typeface="Arial"/>
                <a:cs typeface="Arial"/>
              </a:rPr>
              <a:t>Different error patterns call for label-specific thresholds and careful review.</a:t>
            </a:r>
          </a:p>
        </p:txBody>
      </p:sp>
      <p:sp>
        <p:nvSpPr>
          <p:cNvPr id="212" name="shape-143"/>
          <p:cNvSpPr>
            <a:spLocks noGrp="1"/>
          </p:cNvSpPr>
          <p:nvPr/>
        </p:nvSpPr>
        <p:spPr>
          <a:xfrm>
            <a:off x="13468350" y="25441275"/>
            <a:ext cx="7344150" cy="1438275"/>
          </a:xfrm>
          <a:prstGeom prst="rect">
            <a:avLst/>
          </a:prstGeom>
          <a:solidFill>
            <a:srgbClr val="FFFFFF"/>
          </a:solidFill>
          <a:ln w="14288">
            <a:solidFill>
              <a:srgbClr val="B6D7E1"/>
            </a:solidFill>
          </a:ln>
        </p:spPr>
        <p:txBody>
          <a:bodyPr/>
          <a:lstStyle/>
          <a:p/>
        </p:txBody>
      </p:sp>
      <p:sp>
        <p:nvSpPr>
          <p:cNvPr id="213" name="shape-144"/>
          <p:cNvSpPr>
            <a:spLocks noGrp="1"/>
          </p:cNvSpPr>
          <p:nvPr/>
        </p:nvSpPr>
        <p:spPr>
          <a:xfrm>
            <a:off x="13468350" y="25441275"/>
            <a:ext cx="7344150" cy="552450"/>
          </a:xfrm>
          <a:prstGeom prst="rect">
            <a:avLst/>
          </a:prstGeom>
          <a:solidFill>
            <a:srgbClr val="071F36"/>
          </a:solidFill>
          <a:ln w="0">
            <a:noFill/>
          </a:ln>
        </p:spPr>
        <p:txBody>
          <a:bodyPr/>
          <a:lstStyle/>
          <a:p/>
        </p:txBody>
      </p:sp>
      <p:sp>
        <p:nvSpPr>
          <p:cNvPr id="214" name="shape-145"/>
          <p:cNvSpPr>
            <a:spLocks noGrp="1"/>
          </p:cNvSpPr>
          <p:nvPr/>
        </p:nvSpPr>
        <p:spPr>
          <a:xfrm>
            <a:off x="13468350" y="25441275"/>
            <a:ext cx="66675" cy="552450"/>
          </a:xfrm>
          <a:prstGeom prst="rect">
            <a:avLst/>
          </a:prstGeom>
          <a:solidFill>
            <a:srgbClr val="00ACC7"/>
          </a:solidFill>
          <a:ln w="0">
            <a:noFill/>
          </a:ln>
        </p:spPr>
        <p:txBody>
          <a:bodyPr/>
          <a:lstStyle/>
          <a:p/>
        </p:txBody>
      </p:sp>
      <p:pic>
        <p:nvPicPr>
          <p:cNvPr id="215" name="Picture 214"/>
          <p:cNvPicPr>
            <a:picLocks noChangeAspect="1"/>
          </p:cNvPicPr>
          <p:nvPr/>
        </p:nvPicPr>
        <p:blipFill>
          <a:blip r:embed="rId32"/>
          <a:srcRect/>
          <a:stretch>
            <a:fillRect/>
          </a:stretch>
        </p:blipFill>
        <p:spPr>
          <a:xfrm>
            <a:off x="13677900" y="25546050"/>
            <a:ext cx="352425" cy="352425"/>
          </a:xfrm>
          <a:prstGeom prst="rect">
            <a:avLst/>
          </a:prstGeom>
        </p:spPr>
      </p:pic>
      <p:sp>
        <p:nvSpPr>
          <p:cNvPr id="216" name="text-146"/>
          <p:cNvSpPr>
            <a:spLocks noGrp="1"/>
          </p:cNvSpPr>
          <p:nvPr/>
        </p:nvSpPr>
        <p:spPr>
          <a:xfrm>
            <a:off x="14211300" y="25527000"/>
            <a:ext cx="642975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Limitations</a:t>
            </a:r>
          </a:p>
        </p:txBody>
      </p:sp>
      <p:sp>
        <p:nvSpPr>
          <p:cNvPr id="217" name="text-147"/>
          <p:cNvSpPr>
            <a:spLocks noGrp="1"/>
          </p:cNvSpPr>
          <p:nvPr/>
        </p:nvSpPr>
        <p:spPr>
          <a:xfrm>
            <a:off x="13706475" y="26117550"/>
            <a:ext cx="6867900" cy="704850"/>
          </a:xfrm>
          <a:prstGeom prst="rect">
            <a:avLst/>
          </a:prstGeom>
          <a:noFill/>
          <a:ln w="0">
            <a:noFill/>
          </a:ln>
        </p:spPr>
        <p:txBody>
          <a:bodyPr wrap="square" lIns="0" tIns="0" rIns="0" bIns="0" anchor="t">
            <a:noAutofit/>
          </a:bodyPr>
          <a:lstStyle/>
          <a:p>
            <a:pPr algn="l"/>
            <a:r>
              <a:rPr sz="2025" b="0">
                <a:solidFill>
                  <a:srgbClr val="17354B"/>
                </a:solidFill>
                <a:latin typeface="Arial"/>
                <a:ea typeface="Arial"/>
                <a:cs typeface="Arial"/>
              </a:rPr>
              <a:t>Only 15 positives each for implicit harm and threats. Reused validation can overstate generalization.</a:t>
            </a:r>
          </a:p>
        </p:txBody>
      </p:sp>
      <p:sp>
        <p:nvSpPr>
          <p:cNvPr id="218" name="shape-148"/>
          <p:cNvSpPr>
            <a:spLocks noGrp="1"/>
          </p:cNvSpPr>
          <p:nvPr/>
        </p:nvSpPr>
        <p:spPr>
          <a:xfrm>
            <a:off x="571500" y="27127200"/>
            <a:ext cx="10020300" cy="2571750"/>
          </a:xfrm>
          <a:prstGeom prst="rect">
            <a:avLst/>
          </a:prstGeom>
          <a:solidFill>
            <a:srgbClr val="FFFFFF"/>
          </a:solidFill>
          <a:ln w="14288">
            <a:solidFill>
              <a:srgbClr val="B6D7E1"/>
            </a:solidFill>
          </a:ln>
        </p:spPr>
        <p:txBody>
          <a:bodyPr/>
          <a:lstStyle/>
          <a:p/>
        </p:txBody>
      </p:sp>
      <p:sp>
        <p:nvSpPr>
          <p:cNvPr id="219" name="shape-149"/>
          <p:cNvSpPr>
            <a:spLocks noGrp="1"/>
          </p:cNvSpPr>
          <p:nvPr/>
        </p:nvSpPr>
        <p:spPr>
          <a:xfrm>
            <a:off x="571500" y="27127200"/>
            <a:ext cx="10020300" cy="552450"/>
          </a:xfrm>
          <a:prstGeom prst="rect">
            <a:avLst/>
          </a:prstGeom>
          <a:solidFill>
            <a:srgbClr val="071F36"/>
          </a:solidFill>
          <a:ln w="0">
            <a:noFill/>
          </a:ln>
        </p:spPr>
        <p:txBody>
          <a:bodyPr/>
          <a:lstStyle/>
          <a:p/>
        </p:txBody>
      </p:sp>
      <p:sp>
        <p:nvSpPr>
          <p:cNvPr id="220" name="shape-150"/>
          <p:cNvSpPr>
            <a:spLocks noGrp="1"/>
          </p:cNvSpPr>
          <p:nvPr/>
        </p:nvSpPr>
        <p:spPr>
          <a:xfrm>
            <a:off x="571500" y="27127200"/>
            <a:ext cx="66675" cy="552450"/>
          </a:xfrm>
          <a:prstGeom prst="rect">
            <a:avLst/>
          </a:prstGeom>
          <a:solidFill>
            <a:srgbClr val="00ACC7"/>
          </a:solidFill>
          <a:ln w="0">
            <a:noFill/>
          </a:ln>
        </p:spPr>
        <p:txBody>
          <a:bodyPr/>
          <a:lstStyle/>
          <a:p/>
        </p:txBody>
      </p:sp>
      <p:pic>
        <p:nvPicPr>
          <p:cNvPr id="221" name="Picture 220"/>
          <p:cNvPicPr>
            <a:picLocks noChangeAspect="1"/>
          </p:cNvPicPr>
          <p:nvPr/>
        </p:nvPicPr>
        <p:blipFill>
          <a:blip r:embed="rId33"/>
          <a:srcRect/>
          <a:stretch>
            <a:fillRect/>
          </a:stretch>
        </p:blipFill>
        <p:spPr>
          <a:xfrm>
            <a:off x="781050" y="27231975"/>
            <a:ext cx="352425" cy="352425"/>
          </a:xfrm>
          <a:prstGeom prst="rect">
            <a:avLst/>
          </a:prstGeom>
        </p:spPr>
      </p:pic>
      <p:sp>
        <p:nvSpPr>
          <p:cNvPr id="222" name="text-151"/>
          <p:cNvSpPr>
            <a:spLocks noGrp="1"/>
          </p:cNvSpPr>
          <p:nvPr/>
        </p:nvSpPr>
        <p:spPr>
          <a:xfrm>
            <a:off x="1314450" y="27212925"/>
            <a:ext cx="910590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Conclusion &amp; Future Work</a:t>
            </a:r>
          </a:p>
        </p:txBody>
      </p:sp>
      <p:sp>
        <p:nvSpPr>
          <p:cNvPr id="223" name="text-152"/>
          <p:cNvSpPr>
            <a:spLocks noGrp="1"/>
          </p:cNvSpPr>
          <p:nvPr/>
        </p:nvSpPr>
        <p:spPr>
          <a:xfrm>
            <a:off x="809625" y="27908250"/>
            <a:ext cx="9525000" cy="1495425"/>
          </a:xfrm>
          <a:prstGeom prst="rect">
            <a:avLst/>
          </a:prstGeom>
          <a:noFill/>
          <a:ln w="0">
            <a:noFill/>
          </a:ln>
        </p:spPr>
        <p:txBody>
          <a:bodyPr wrap="square" lIns="0" tIns="0" rIns="0" bIns="0" anchor="t">
            <a:noAutofit/>
          </a:bodyPr>
          <a:lstStyle/>
          <a:p>
            <a:pPr algn="l"/>
            <a:r>
              <a:rPr sz="2400" b="0">
                <a:solidFill>
                  <a:srgbClr val="17354B"/>
                </a:solidFill>
                <a:latin typeface="Arial"/>
                <a:ea typeface="Arial"/>
                <a:cs typeface="Arial"/>
              </a:rPr>
              <a:t>This work brings contextual and lexical signals together for more detailed Bengali content moderation.</a:t>
            </a:r>
          </a:p>
          <a:p>
            <a:pPr algn="l"/>
            <a:r>
              <a:rPr sz="2400" b="0">
                <a:solidFill>
                  <a:srgbClr val="17354B"/>
                </a:solidFill>
                <a:latin typeface="Arial"/>
                <a:ea typeface="Arial"/>
                <a:cs typeface="Arial"/>
              </a:rPr>
              <a:t>Next, we will focus on reducing false alarms, improving rare-label detection and testing on fresh data.</a:t>
            </a:r>
          </a:p>
        </p:txBody>
      </p:sp>
      <p:sp>
        <p:nvSpPr>
          <p:cNvPr id="224" name="shape-153"/>
          <p:cNvSpPr>
            <a:spLocks noGrp="1"/>
          </p:cNvSpPr>
          <p:nvPr/>
        </p:nvSpPr>
        <p:spPr>
          <a:xfrm>
            <a:off x="10820400" y="27127200"/>
            <a:ext cx="5257800" cy="2571750"/>
          </a:xfrm>
          <a:prstGeom prst="rect">
            <a:avLst/>
          </a:prstGeom>
          <a:solidFill>
            <a:srgbClr val="FFFFFF"/>
          </a:solidFill>
          <a:ln w="14288">
            <a:solidFill>
              <a:srgbClr val="B6D7E1"/>
            </a:solidFill>
          </a:ln>
        </p:spPr>
        <p:txBody>
          <a:bodyPr/>
          <a:lstStyle/>
          <a:p/>
        </p:txBody>
      </p:sp>
      <p:sp>
        <p:nvSpPr>
          <p:cNvPr id="225" name="shape-154"/>
          <p:cNvSpPr>
            <a:spLocks noGrp="1"/>
          </p:cNvSpPr>
          <p:nvPr/>
        </p:nvSpPr>
        <p:spPr>
          <a:xfrm>
            <a:off x="10820400" y="27127200"/>
            <a:ext cx="5257800" cy="552450"/>
          </a:xfrm>
          <a:prstGeom prst="rect">
            <a:avLst/>
          </a:prstGeom>
          <a:solidFill>
            <a:srgbClr val="071F36"/>
          </a:solidFill>
          <a:ln w="0">
            <a:noFill/>
          </a:ln>
        </p:spPr>
        <p:txBody>
          <a:bodyPr/>
          <a:lstStyle/>
          <a:p/>
        </p:txBody>
      </p:sp>
      <p:sp>
        <p:nvSpPr>
          <p:cNvPr id="226" name="shape-155"/>
          <p:cNvSpPr>
            <a:spLocks noGrp="1"/>
          </p:cNvSpPr>
          <p:nvPr/>
        </p:nvSpPr>
        <p:spPr>
          <a:xfrm>
            <a:off x="10820400" y="27127200"/>
            <a:ext cx="66675" cy="552450"/>
          </a:xfrm>
          <a:prstGeom prst="rect">
            <a:avLst/>
          </a:prstGeom>
          <a:solidFill>
            <a:srgbClr val="00ACC7"/>
          </a:solidFill>
          <a:ln w="0">
            <a:noFill/>
          </a:ln>
        </p:spPr>
        <p:txBody>
          <a:bodyPr/>
          <a:lstStyle/>
          <a:p/>
        </p:txBody>
      </p:sp>
      <p:pic>
        <p:nvPicPr>
          <p:cNvPr id="227" name="Picture 226"/>
          <p:cNvPicPr>
            <a:picLocks noChangeAspect="1"/>
          </p:cNvPicPr>
          <p:nvPr/>
        </p:nvPicPr>
        <p:blipFill>
          <a:blip r:embed="rId34"/>
          <a:srcRect/>
          <a:stretch>
            <a:fillRect/>
          </a:stretch>
        </p:blipFill>
        <p:spPr>
          <a:xfrm>
            <a:off x="11029950" y="27231975"/>
            <a:ext cx="352425" cy="352425"/>
          </a:xfrm>
          <a:prstGeom prst="rect">
            <a:avLst/>
          </a:prstGeom>
        </p:spPr>
      </p:pic>
      <p:sp>
        <p:nvSpPr>
          <p:cNvPr id="228" name="text-156"/>
          <p:cNvSpPr>
            <a:spLocks noGrp="1"/>
          </p:cNvSpPr>
          <p:nvPr/>
        </p:nvSpPr>
        <p:spPr>
          <a:xfrm>
            <a:off x="11563350" y="27212925"/>
            <a:ext cx="434340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Acknowledgment</a:t>
            </a:r>
          </a:p>
        </p:txBody>
      </p:sp>
      <p:sp>
        <p:nvSpPr>
          <p:cNvPr id="229" name="text-157"/>
          <p:cNvSpPr>
            <a:spLocks noGrp="1"/>
          </p:cNvSpPr>
          <p:nvPr/>
        </p:nvSpPr>
        <p:spPr>
          <a:xfrm>
            <a:off x="11058525" y="27908250"/>
            <a:ext cx="4781550" cy="1485900"/>
          </a:xfrm>
          <a:prstGeom prst="rect">
            <a:avLst/>
          </a:prstGeom>
          <a:noFill/>
          <a:ln w="0">
            <a:noFill/>
          </a:ln>
        </p:spPr>
        <p:txBody>
          <a:bodyPr wrap="square" lIns="0" tIns="0" rIns="0" bIns="0" anchor="t">
            <a:noAutofit/>
          </a:bodyPr>
          <a:lstStyle/>
          <a:p>
            <a:pPr algn="l"/>
            <a:r>
              <a:rPr sz="2175" b="0">
                <a:solidFill>
                  <a:srgbClr val="17354B"/>
                </a:solidFill>
                <a:latin typeface="Arial"/>
                <a:ea typeface="Arial"/>
                <a:cs typeface="Arial"/>
              </a:rPr>
              <a:t>We thank the challenge organizers and the researchers who shared their models.</a:t>
            </a:r>
          </a:p>
          <a:p>
            <a:pPr algn="l"/>
            <a:r>
              <a:rPr sz="2000" b="1">
                <a:solidFill>
                  <a:srgbClr val="17354B"/>
                </a:solidFill>
                <a:latin typeface="Arial"/>
                <a:ea typeface="Arial"/>
                <a:cs typeface="Arial"/>
              </a:rPr>
              <a:t>Supervisor:</a:t>
            </a:r>
            <a:r>
              <a:rPr sz="2000" b="0">
                <a:solidFill>
                  <a:srgbClr val="17354B"/>
                </a:solidFill>
                <a:latin typeface="Arial"/>
                <a:ea typeface="Arial"/>
                <a:cs typeface="Arial"/>
              </a:rPr>
              <a:t> Md. Darun Nayeem</a:t>
            </a:r>
            <a:endParaRPr lang="en-US" sz="2000" b="0">
              <a:solidFill>
                <a:srgbClr val="17354B"/>
              </a:solidFill>
              <a:latin typeface="Arial"/>
              <a:ea typeface="Arial"/>
              <a:cs typeface="Arial"/>
            </a:endParaRPr>
          </a:p>
          <a:p>
            <a:pPr algn="l"/>
            <a:r>
              <a:rPr lang="en-US" sz="1800" b="1">
                <a:solidFill>
                  <a:srgbClr val="17354B"/>
                </a:solidFill>
                <a:latin typeface="Arial"/>
                <a:ea typeface="Arial"/>
                <a:cs typeface="Arial"/>
              </a:rPr>
              <a:t>Email:</a:t>
            </a:r>
            <a:r>
              <a:rPr lang="en-US" sz="2175" b="1">
                <a:solidFill>
                  <a:srgbClr val="17354B"/>
                </a:solidFill>
                <a:latin typeface="Arial"/>
                <a:ea typeface="Arial"/>
                <a:cs typeface="Arial"/>
              </a:rPr>
              <a:t> </a:t>
            </a:r>
            <a:r>
              <a:rPr sz="1725" b="0" i="1">
                <a:solidFill>
                  <a:srgbClr val="17354B"/>
                </a:solidFill>
                <a:latin typeface="Arial"/>
                <a:ea typeface="Arial"/>
                <a:cs typeface="Arial"/>
              </a:rPr>
              <a:t>darunnayeem126181@gmail.com</a:t>
            </a:r>
            <a:endParaRPr lang="en-US" sz="2175" b="1">
              <a:solidFill>
                <a:srgbClr val="17354B"/>
              </a:solidFill>
              <a:latin typeface="Arial"/>
              <a:ea typeface="Arial"/>
              <a:cs typeface="Arial"/>
            </a:endParaRPr>
          </a:p>
        </p:txBody>
      </p:sp>
      <p:sp>
        <p:nvSpPr>
          <p:cNvPr id="230" name="shape-158"/>
          <p:cNvSpPr>
            <a:spLocks noGrp="1"/>
          </p:cNvSpPr>
          <p:nvPr/>
        </p:nvSpPr>
        <p:spPr>
          <a:xfrm>
            <a:off x="16306800" y="27127200"/>
            <a:ext cx="4505700" cy="2571750"/>
          </a:xfrm>
          <a:prstGeom prst="rect">
            <a:avLst/>
          </a:prstGeom>
          <a:solidFill>
            <a:srgbClr val="FFFFFF"/>
          </a:solidFill>
          <a:ln w="14288">
            <a:solidFill>
              <a:srgbClr val="B6D7E1"/>
            </a:solidFill>
          </a:ln>
        </p:spPr>
        <p:txBody>
          <a:bodyPr/>
          <a:lstStyle/>
          <a:p/>
        </p:txBody>
      </p:sp>
      <p:sp>
        <p:nvSpPr>
          <p:cNvPr id="231" name="shape-159"/>
          <p:cNvSpPr>
            <a:spLocks noGrp="1"/>
          </p:cNvSpPr>
          <p:nvPr/>
        </p:nvSpPr>
        <p:spPr>
          <a:xfrm>
            <a:off x="16306800" y="27127200"/>
            <a:ext cx="4505700" cy="552450"/>
          </a:xfrm>
          <a:prstGeom prst="rect">
            <a:avLst/>
          </a:prstGeom>
          <a:solidFill>
            <a:srgbClr val="071F36"/>
          </a:solidFill>
          <a:ln w="0">
            <a:noFill/>
          </a:ln>
        </p:spPr>
        <p:txBody>
          <a:bodyPr/>
          <a:lstStyle/>
          <a:p/>
        </p:txBody>
      </p:sp>
      <p:sp>
        <p:nvSpPr>
          <p:cNvPr id="232" name="shape-160"/>
          <p:cNvSpPr>
            <a:spLocks noGrp="1"/>
          </p:cNvSpPr>
          <p:nvPr/>
        </p:nvSpPr>
        <p:spPr>
          <a:xfrm>
            <a:off x="16306800" y="27127200"/>
            <a:ext cx="66675" cy="552450"/>
          </a:xfrm>
          <a:prstGeom prst="rect">
            <a:avLst/>
          </a:prstGeom>
          <a:solidFill>
            <a:srgbClr val="00ACC7"/>
          </a:solidFill>
          <a:ln w="0">
            <a:noFill/>
          </a:ln>
        </p:spPr>
        <p:txBody>
          <a:bodyPr/>
          <a:lstStyle/>
          <a:p/>
        </p:txBody>
      </p:sp>
      <p:pic>
        <p:nvPicPr>
          <p:cNvPr id="233" name="Picture 232"/>
          <p:cNvPicPr>
            <a:picLocks noChangeAspect="1"/>
          </p:cNvPicPr>
          <p:nvPr/>
        </p:nvPicPr>
        <p:blipFill>
          <a:blip r:embed="rId35"/>
          <a:srcRect/>
          <a:stretch>
            <a:fillRect/>
          </a:stretch>
        </p:blipFill>
        <p:spPr>
          <a:xfrm>
            <a:off x="16516350" y="27231975"/>
            <a:ext cx="352425" cy="352425"/>
          </a:xfrm>
          <a:prstGeom prst="rect">
            <a:avLst/>
          </a:prstGeom>
        </p:spPr>
      </p:pic>
      <p:sp>
        <p:nvSpPr>
          <p:cNvPr id="234" name="text-161"/>
          <p:cNvSpPr>
            <a:spLocks noGrp="1"/>
          </p:cNvSpPr>
          <p:nvPr/>
        </p:nvSpPr>
        <p:spPr>
          <a:xfrm>
            <a:off x="17049750" y="27212925"/>
            <a:ext cx="3591300" cy="428625"/>
          </a:xfrm>
          <a:prstGeom prst="rect">
            <a:avLst/>
          </a:prstGeom>
          <a:noFill/>
          <a:ln w="0">
            <a:noFill/>
          </a:ln>
        </p:spPr>
        <p:txBody>
          <a:bodyPr wrap="square" lIns="0" tIns="0" rIns="0" bIns="0" anchor="t">
            <a:noAutofit/>
          </a:bodyPr>
          <a:lstStyle/>
          <a:p>
            <a:pPr algn="l"/>
            <a:r>
              <a:rPr sz="2625" b="1">
                <a:solidFill>
                  <a:srgbClr val="FFFFFF"/>
                </a:solidFill>
                <a:latin typeface="Arial"/>
                <a:ea typeface="Arial"/>
                <a:cs typeface="Arial"/>
              </a:rPr>
              <a:t>Contact</a:t>
            </a:r>
          </a:p>
        </p:txBody>
      </p:sp>
      <p:sp>
        <p:nvSpPr>
          <p:cNvPr id="235" name="text-162"/>
          <p:cNvSpPr>
            <a:spLocks noGrp="1"/>
          </p:cNvSpPr>
          <p:nvPr/>
        </p:nvSpPr>
        <p:spPr>
          <a:xfrm>
            <a:off x="16544925" y="27793950"/>
            <a:ext cx="4029452" cy="1828800"/>
          </a:xfrm>
          <a:prstGeom prst="rect">
            <a:avLst/>
          </a:prstGeom>
          <a:noFill/>
          <a:ln w="0">
            <a:noFill/>
          </a:ln>
        </p:spPr>
        <p:txBody>
          <a:bodyPr wrap="square" lIns="0" tIns="0" rIns="0" bIns="0" anchor="t">
            <a:noAutofit/>
          </a:bodyPr>
          <a:lstStyle/>
          <a:p>
            <a:pPr algn="l"/>
            <a:r>
              <a:rPr sz="2000" b="1">
                <a:solidFill>
                  <a:srgbClr val="17354B"/>
                </a:solidFill>
                <a:latin typeface="Arial"/>
                <a:ea typeface="Arial"/>
                <a:cs typeface="Arial"/>
              </a:rPr>
              <a:t>Sayem Islam Leon</a:t>
            </a:r>
          </a:p>
          <a:p>
            <a:pPr algn="l"/>
            <a:r>
              <a:rPr lang="en-US" sz="1725" b="1" i="0">
                <a:solidFill>
                  <a:srgbClr val="17354B"/>
                </a:solidFill>
                <a:latin typeface="Arial"/>
                <a:ea typeface="Arial"/>
                <a:cs typeface="Arial"/>
              </a:rPr>
              <a:t>Email:</a:t>
            </a:r>
            <a:r>
              <a:rPr lang="en-US" sz="1725" b="0" i="1">
                <a:solidFill>
                  <a:srgbClr val="17354B"/>
                </a:solidFill>
                <a:latin typeface="Arial"/>
                <a:ea typeface="Arial"/>
                <a:cs typeface="Arial"/>
              </a:rPr>
              <a:t> </a:t>
            </a:r>
            <a:r>
              <a:rPr sz="1725" b="0" i="1">
                <a:solidFill>
                  <a:srgbClr val="17354B"/>
                </a:solidFill>
                <a:latin typeface="Arial"/>
                <a:ea typeface="Arial"/>
                <a:cs typeface="Arial"/>
              </a:rPr>
              <a:t>sayemislamleon@gmail.com</a:t>
            </a:r>
          </a:p>
          <a:p>
            <a:pPr algn="l"/>
            <a:r>
              <a:rPr sz="2000" b="1">
                <a:solidFill>
                  <a:srgbClr val="17354B"/>
                </a:solidFill>
                <a:latin typeface="Arial"/>
                <a:ea typeface="Arial"/>
                <a:cs typeface="Arial"/>
              </a:rPr>
              <a:t>Samira Ibrahim</a:t>
            </a:r>
          </a:p>
          <a:p>
            <a:pPr algn="l"/>
            <a:r>
              <a:rPr lang="en-US" sz="1725" b="1" i="0">
                <a:solidFill>
                  <a:srgbClr val="17354B"/>
                </a:solidFill>
                <a:latin typeface="Arial"/>
                <a:ea typeface="Arial"/>
                <a:cs typeface="Arial"/>
              </a:rPr>
              <a:t>Email:</a:t>
            </a:r>
            <a:r>
              <a:rPr lang="en-US" sz="1725" b="0" i="1">
                <a:solidFill>
                  <a:srgbClr val="17354B"/>
                </a:solidFill>
                <a:latin typeface="Arial"/>
                <a:ea typeface="Arial"/>
                <a:cs typeface="Arial"/>
              </a:rPr>
              <a:t> </a:t>
            </a:r>
            <a:r>
              <a:rPr sz="1725" b="0" i="1">
                <a:solidFill>
                  <a:srgbClr val="17354B"/>
                </a:solidFill>
                <a:latin typeface="Arial"/>
                <a:ea typeface="Arial"/>
                <a:cs typeface="Arial"/>
              </a:rPr>
              <a:t>samira41104@gmail.com</a:t>
            </a:r>
          </a:p>
          <a:p>
            <a:pPr algn="l"/>
            <a:r>
              <a:rPr sz="2000" b="1">
                <a:solidFill>
                  <a:srgbClr val="17354B"/>
                </a:solidFill>
                <a:latin typeface="Arial"/>
                <a:ea typeface="Arial"/>
                <a:cs typeface="Arial"/>
              </a:rPr>
              <a:t>Mohd. Mayasur Uddin Dip</a:t>
            </a:r>
          </a:p>
          <a:p>
            <a:pPr algn="l"/>
            <a:r>
              <a:rPr lang="en-US" sz="1725" b="1" i="0">
                <a:solidFill>
                  <a:srgbClr val="17354B"/>
                </a:solidFill>
                <a:latin typeface="Arial"/>
                <a:ea typeface="Arial"/>
                <a:cs typeface="Arial"/>
              </a:rPr>
              <a:t>Email:</a:t>
            </a:r>
            <a:r>
              <a:rPr lang="en-US" sz="1725" b="0" i="1">
                <a:solidFill>
                  <a:srgbClr val="17354B"/>
                </a:solidFill>
                <a:latin typeface="Arial"/>
                <a:ea typeface="Arial"/>
                <a:cs typeface="Arial"/>
              </a:rPr>
              <a:t> </a:t>
            </a:r>
            <a:r>
              <a:rPr sz="1725" b="0" i="1">
                <a:solidFill>
                  <a:srgbClr val="17354B"/>
                </a:solidFill>
                <a:latin typeface="Arial"/>
                <a:ea typeface="Arial"/>
                <a:cs typeface="Arial"/>
              </a:rPr>
              <a:t>20244103094@cse.bubt.edu.bd</a:t>
            </a:r>
          </a:p>
        </p:txBody>
      </p:sp>
      <p:sp>
        <p:nvSpPr>
          <p:cNvPr id="236" name="text-163"/>
          <p:cNvSpPr>
            <a:spLocks noGrp="1"/>
          </p:cNvSpPr>
          <p:nvPr/>
        </p:nvSpPr>
        <p:spPr>
          <a:xfrm>
            <a:off x="619125" y="29851350"/>
            <a:ext cx="20145750" cy="333375"/>
          </a:xfrm>
          <a:prstGeom prst="rect">
            <a:avLst/>
          </a:prstGeom>
          <a:noFill/>
          <a:ln w="0">
            <a:noFill/>
          </a:ln>
        </p:spPr>
        <p:txBody>
          <a:bodyPr wrap="square" lIns="0" tIns="0" rIns="0" bIns="0" anchor="t">
            <a:noAutofit/>
          </a:bodyPr>
          <a:lstStyle/>
          <a:p>
            <a:pPr algn="ctr"/>
            <a:r>
              <a:rPr sz="1800" b="0">
                <a:solidFill>
                  <a:srgbClr val="486174"/>
                </a:solidFill>
                <a:latin typeface="Arial"/>
                <a:ea typeface="Arial"/>
                <a:cs typeface="Arial"/>
              </a:rPr>
              <a:t>Bengali NLP Safety Challenge 2026  •  V38 label-wise ensemble  •  ALIEN_X  •  Seven-label development evaluation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Samira Ibrahim</cp:lastModifiedBy>
  <dcterms:created xsi:type="dcterms:W3CDTF">2026-10-11T08:26:57.9890000Z</dcterms:created>
  <dcterms:modified xsi:type="dcterms:W3CDTF">2026-10-12T13:15:47Z</dcterms:modified>
</cp:coreProperties>
</file>